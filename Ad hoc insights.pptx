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9" r:id="rId1"/>
  </p:sldMasterIdLst>
  <p:notesMasterIdLst>
    <p:notesMasterId r:id="rId27"/>
  </p:notesMasterIdLst>
  <p:sldIdLst>
    <p:sldId id="282" r:id="rId2"/>
    <p:sldId id="281" r:id="rId3"/>
    <p:sldId id="262" r:id="rId4"/>
    <p:sldId id="256" r:id="rId5"/>
    <p:sldId id="263" r:id="rId6"/>
    <p:sldId id="259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84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3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B4E3A-85B7-432D-90A3-C6F5F44DF7B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5D5E54-282B-4EA4-85DD-1A9134934D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967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D5E54-282B-4EA4-85DD-1A9134934DA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685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AAFB0-889B-4218-83BC-6EB2E5ECCF4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B196-112D-45DA-8DE5-10417D814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031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AAFB0-889B-4218-83BC-6EB2E5ECCF4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B196-112D-45DA-8DE5-10417D814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044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AAFB0-889B-4218-83BC-6EB2E5ECCF4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B196-112D-45DA-8DE5-10417D814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610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AAFB0-889B-4218-83BC-6EB2E5ECCF4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B196-112D-45DA-8DE5-10417D814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072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AAFB0-889B-4218-83BC-6EB2E5ECCF4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B196-112D-45DA-8DE5-10417D814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72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AAFB0-889B-4218-83BC-6EB2E5ECCF4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B196-112D-45DA-8DE5-10417D814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06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AAFB0-889B-4218-83BC-6EB2E5ECCF4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B196-112D-45DA-8DE5-10417D814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30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AAFB0-889B-4218-83BC-6EB2E5ECCF4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B196-112D-45DA-8DE5-10417D814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423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AAFB0-889B-4218-83BC-6EB2E5ECCF4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B196-112D-45DA-8DE5-10417D814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688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AAFB0-889B-4218-83BC-6EB2E5ECCF4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B196-112D-45DA-8DE5-10417D814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879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AAFB0-889B-4218-83BC-6EB2E5ECCF4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B196-112D-45DA-8DE5-10417D814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347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AAFB0-889B-4218-83BC-6EB2E5ECCF4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B196-112D-45DA-8DE5-10417D814860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7682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AAFB0-889B-4218-83BC-6EB2E5ECCF4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B196-112D-45DA-8DE5-10417D814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862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AAFB0-889B-4218-83BC-6EB2E5ECCF4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B196-112D-45DA-8DE5-10417D814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099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AAFB0-889B-4218-83BC-6EB2E5ECCF4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B196-112D-45DA-8DE5-10417D814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821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AAFB0-889B-4218-83BC-6EB2E5ECCF4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B196-112D-45DA-8DE5-10417D814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246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AAFB0-889B-4218-83BC-6EB2E5ECCF4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2B196-112D-45DA-8DE5-10417D814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472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31AAFB0-889B-4218-83BC-6EB2E5ECCF4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102B196-112D-45DA-8DE5-10417D814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0383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80" r:id="rId1"/>
    <p:sldLayoutId id="2147484081" r:id="rId2"/>
    <p:sldLayoutId id="2147484082" r:id="rId3"/>
    <p:sldLayoutId id="2147484083" r:id="rId4"/>
    <p:sldLayoutId id="2147484084" r:id="rId5"/>
    <p:sldLayoutId id="2147484085" r:id="rId6"/>
    <p:sldLayoutId id="2147484086" r:id="rId7"/>
    <p:sldLayoutId id="2147484087" r:id="rId8"/>
    <p:sldLayoutId id="2147484088" r:id="rId9"/>
    <p:sldLayoutId id="2147484089" r:id="rId10"/>
    <p:sldLayoutId id="2147484090" r:id="rId11"/>
    <p:sldLayoutId id="2147484091" r:id="rId12"/>
    <p:sldLayoutId id="2147484092" r:id="rId13"/>
    <p:sldLayoutId id="2147484093" r:id="rId14"/>
    <p:sldLayoutId id="2147484094" r:id="rId15"/>
    <p:sldLayoutId id="2147484095" r:id="rId16"/>
    <p:sldLayoutId id="214748409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04E067B-C4B5-04F0-83A0-D8DC805BD74E}"/>
              </a:ext>
            </a:extLst>
          </p:cNvPr>
          <p:cNvSpPr>
            <a:spLocks noGrp="1"/>
          </p:cNvSpPr>
          <p:nvPr/>
        </p:nvSpPr>
        <p:spPr>
          <a:xfrm>
            <a:off x="0" y="1237715"/>
            <a:ext cx="12192000" cy="179527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6600" dirty="0">
                <a:latin typeface="+mn-lt"/>
              </a:rPr>
              <a:t>Ad-Hoc Insights</a:t>
            </a:r>
          </a:p>
          <a:p>
            <a:r>
              <a:rPr lang="en-IN" sz="3000" dirty="0">
                <a:latin typeface="+mn-lt"/>
              </a:rPr>
              <a:t>Consumer Goods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423891-C12D-D97E-DEEF-D6BFE35A6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955"/>
            <a:ext cx="1206608" cy="11807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978858-902C-BECF-8D8B-5A27E4339B0E}"/>
              </a:ext>
            </a:extLst>
          </p:cNvPr>
          <p:cNvSpPr txBox="1"/>
          <p:nvPr/>
        </p:nvSpPr>
        <p:spPr>
          <a:xfrm>
            <a:off x="5034116" y="6332461"/>
            <a:ext cx="42082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Presented By : Ankita Gupta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D6237F-8660-399D-ADD0-24509C3A7B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0" y="3338285"/>
            <a:ext cx="3952569" cy="35197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6FFE80-A5C7-E9E5-F858-B49F6D60DE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887" y="3515571"/>
            <a:ext cx="3644813" cy="334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298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45681-D67C-732C-4860-664000566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560439"/>
            <a:ext cx="11098160" cy="488864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GB" b="1" i="0" dirty="0">
                <a:solidFill>
                  <a:schemeClr val="accent3"/>
                </a:solidFill>
                <a:effectLst/>
                <a:latin typeface="Manrope"/>
              </a:rPr>
              <a:t>Introduction</a:t>
            </a:r>
          </a:p>
          <a:p>
            <a:pPr algn="l"/>
            <a:r>
              <a:rPr lang="en-GB" b="1" i="0" dirty="0" err="1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AtliQ</a:t>
            </a:r>
            <a:r>
              <a:rPr lang="en-GB" b="1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GB" b="1" i="0" dirty="0" err="1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Hardwares</a:t>
            </a:r>
            <a:r>
              <a:rPr lang="en-GB" b="0" i="0" dirty="0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 (imaginary company) is one of the leading computer hardware producers in India and has expanded well in other countries too.</a:t>
            </a:r>
          </a:p>
          <a:p>
            <a:pPr marL="0" indent="0" algn="l">
              <a:buNone/>
            </a:pPr>
            <a:endParaRPr lang="en-GB" b="1" i="0" dirty="0">
              <a:solidFill>
                <a:schemeClr val="accent3"/>
              </a:solidFill>
              <a:effectLst/>
              <a:latin typeface="Manrope"/>
            </a:endParaRPr>
          </a:p>
          <a:p>
            <a:pPr marL="0" indent="0" algn="l">
              <a:buNone/>
            </a:pPr>
            <a:r>
              <a:rPr lang="en-GB" b="1" i="0" dirty="0">
                <a:solidFill>
                  <a:schemeClr val="accent3"/>
                </a:solidFill>
                <a:effectLst/>
                <a:latin typeface="Manrope"/>
              </a:rPr>
              <a:t>Problem Statement</a:t>
            </a:r>
            <a:endParaRPr lang="en-GB" dirty="0">
              <a:solidFill>
                <a:schemeClr val="tx1"/>
              </a:solidFill>
              <a:latin typeface="Manrope"/>
            </a:endParaRPr>
          </a:p>
          <a:p>
            <a:pPr algn="l"/>
            <a:r>
              <a:rPr lang="en-GB" sz="2400" dirty="0">
                <a:latin typeface="Aptos" panose="020B0004020202020204" pitchFamily="34" charset="0"/>
              </a:rPr>
              <a:t>The management felt they weren’t getting enough insights to make quick, data-driven decisions. So, </a:t>
            </a:r>
            <a:r>
              <a:rPr lang="en-GB" sz="2400" b="1" dirty="0">
                <a:latin typeface="Aptos" panose="020B0004020202020204" pitchFamily="34" charset="0"/>
              </a:rPr>
              <a:t>Tony Sharma </a:t>
            </a:r>
            <a:r>
              <a:rPr lang="en-GB" sz="2400" dirty="0">
                <a:latin typeface="Aptos" panose="020B0004020202020204" pitchFamily="34" charset="0"/>
              </a:rPr>
              <a:t>decided to hire junior data analysts and created a </a:t>
            </a:r>
            <a:r>
              <a:rPr lang="en-GB" sz="2400" b="1" dirty="0">
                <a:latin typeface="Aptos" panose="020B0004020202020204" pitchFamily="34" charset="0"/>
              </a:rPr>
              <a:t>SQL</a:t>
            </a:r>
            <a:r>
              <a:rPr lang="en-GB" sz="2400" dirty="0">
                <a:latin typeface="Aptos" panose="020B0004020202020204" pitchFamily="34" charset="0"/>
              </a:rPr>
              <a:t> challenge to test both technical and soft skills.</a:t>
            </a:r>
          </a:p>
          <a:p>
            <a:pPr marL="0" indent="0" algn="l">
              <a:buNone/>
            </a:pPr>
            <a:endParaRPr lang="en-GB" b="0" i="0" dirty="0">
              <a:solidFill>
                <a:schemeClr val="accent3"/>
              </a:solidFill>
              <a:effectLst/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3063513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C8E8C-A5D6-3FCB-55E6-444D62E4B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7765"/>
          </a:xfrm>
        </p:spPr>
        <p:txBody>
          <a:bodyPr>
            <a:normAutofit/>
          </a:bodyPr>
          <a:lstStyle/>
          <a:p>
            <a:pPr algn="ctr"/>
            <a:r>
              <a:rPr lang="en-IN" sz="2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+mn-lt"/>
              </a:rPr>
              <a:t>List of Market in APAC Region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E163A-3289-852F-BD50-681800C3B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2890"/>
            <a:ext cx="10515600" cy="5174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Question. 1</a:t>
            </a:r>
            <a:endParaRPr lang="en-GB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Aptos" panose="020B0004020202020204" pitchFamily="34" charset="0"/>
              </a:rPr>
              <a:t>Provide the list of markets in which customer "</a:t>
            </a:r>
            <a:r>
              <a:rPr lang="en-GB" dirty="0" err="1">
                <a:latin typeface="Aptos" panose="020B0004020202020204" pitchFamily="34" charset="0"/>
              </a:rPr>
              <a:t>Atliq</a:t>
            </a:r>
            <a:r>
              <a:rPr lang="en-GB" dirty="0">
                <a:latin typeface="Aptos" panose="020B0004020202020204" pitchFamily="34" charset="0"/>
              </a:rPr>
              <a:t> Exclusive" operates its business in the APAC region. </a:t>
            </a:r>
          </a:p>
          <a:p>
            <a:pPr marL="0" indent="0">
              <a:buNone/>
            </a:pPr>
            <a:endParaRPr lang="en-GB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Input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8E082F-756C-4216-D3E1-3DA4E1A49429}"/>
              </a:ext>
            </a:extLst>
          </p:cNvPr>
          <p:cNvSpPr txBox="1"/>
          <p:nvPr/>
        </p:nvSpPr>
        <p:spPr>
          <a:xfrm>
            <a:off x="2349909" y="358992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3"/>
                </a:solidFill>
              </a:rPr>
              <a:t>Select distinct </a:t>
            </a:r>
            <a:r>
              <a:rPr lang="en-GB" dirty="0"/>
              <a:t>market</a:t>
            </a:r>
          </a:p>
          <a:p>
            <a:r>
              <a:rPr lang="en-GB" dirty="0"/>
              <a:t>   </a:t>
            </a:r>
            <a:r>
              <a:rPr lang="en-GB" dirty="0">
                <a:solidFill>
                  <a:schemeClr val="accent3"/>
                </a:solidFill>
              </a:rPr>
              <a:t>from</a:t>
            </a:r>
            <a:r>
              <a:rPr lang="en-GB" dirty="0"/>
              <a:t> </a:t>
            </a:r>
            <a:r>
              <a:rPr lang="en-GB" dirty="0" err="1"/>
              <a:t>dim_customer</a:t>
            </a:r>
            <a:endParaRPr lang="en-GB" dirty="0"/>
          </a:p>
          <a:p>
            <a:r>
              <a:rPr lang="en-GB" dirty="0">
                <a:solidFill>
                  <a:schemeClr val="accent3"/>
                </a:solidFill>
              </a:rPr>
              <a:t>where</a:t>
            </a:r>
            <a:r>
              <a:rPr lang="en-GB" dirty="0"/>
              <a:t> customer = '</a:t>
            </a:r>
            <a:r>
              <a:rPr lang="en-GB" dirty="0" err="1"/>
              <a:t>Atliq</a:t>
            </a:r>
            <a:r>
              <a:rPr lang="en-GB" dirty="0"/>
              <a:t> Exclusive’  </a:t>
            </a:r>
          </a:p>
          <a:p>
            <a:r>
              <a:rPr lang="en-GB" dirty="0">
                <a:solidFill>
                  <a:schemeClr val="accent3"/>
                </a:solidFill>
              </a:rPr>
              <a:t>and</a:t>
            </a:r>
            <a:r>
              <a:rPr lang="en-GB" dirty="0"/>
              <a:t> </a:t>
            </a:r>
          </a:p>
          <a:p>
            <a:r>
              <a:rPr lang="en-GB" dirty="0"/>
              <a:t>region = 'APAC’</a:t>
            </a:r>
          </a:p>
          <a:p>
            <a:r>
              <a:rPr lang="en-GB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3743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C0638A-7D5E-2357-6E39-71E4B8F7B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690" y="1301388"/>
            <a:ext cx="5633690" cy="33921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99ED85-F4EC-4AA8-6234-352DEC432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763" y="1301389"/>
            <a:ext cx="2020900" cy="33921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92836FEE-6EAA-05BC-0621-9B546A3B6B70}"/>
              </a:ext>
            </a:extLst>
          </p:cNvPr>
          <p:cNvSpPr/>
          <p:nvPr/>
        </p:nvSpPr>
        <p:spPr>
          <a:xfrm>
            <a:off x="4122223" y="2451990"/>
            <a:ext cx="978408" cy="216309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6F43F4-F7BD-F36C-09DA-3FDE8027307F}"/>
              </a:ext>
            </a:extLst>
          </p:cNvPr>
          <p:cNvSpPr txBox="1"/>
          <p:nvPr/>
        </p:nvSpPr>
        <p:spPr>
          <a:xfrm>
            <a:off x="1074471" y="4882392"/>
            <a:ext cx="1550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Insights</a:t>
            </a:r>
            <a:endParaRPr lang="en-IN" sz="2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C976E9-1ABE-4CC8-144C-D6252096539D}"/>
              </a:ext>
            </a:extLst>
          </p:cNvPr>
          <p:cNvSpPr txBox="1"/>
          <p:nvPr/>
        </p:nvSpPr>
        <p:spPr>
          <a:xfrm>
            <a:off x="1074471" y="5447071"/>
            <a:ext cx="99672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customer </a:t>
            </a:r>
            <a:r>
              <a:rPr lang="en-GB" b="1" dirty="0"/>
              <a:t>“</a:t>
            </a:r>
            <a:r>
              <a:rPr lang="en-GB" b="1" dirty="0" err="1">
                <a:solidFill>
                  <a:srgbClr val="FFC000"/>
                </a:solidFill>
              </a:rPr>
              <a:t>Atliq</a:t>
            </a:r>
            <a:r>
              <a:rPr lang="en-GB" b="1" dirty="0">
                <a:solidFill>
                  <a:srgbClr val="FFC000"/>
                </a:solidFill>
              </a:rPr>
              <a:t> Exclusive</a:t>
            </a:r>
            <a:r>
              <a:rPr lang="en-GB" b="1" dirty="0"/>
              <a:t>”</a:t>
            </a:r>
            <a:r>
              <a:rPr lang="en-GB" dirty="0"/>
              <a:t> operates its business across several key markets within the </a:t>
            </a:r>
            <a:r>
              <a:rPr lang="en-GB" b="1" dirty="0"/>
              <a:t>APAC (Asia–Pacific) region</a:t>
            </a:r>
            <a:r>
              <a:rPr lang="en-GB" dirty="0"/>
              <a:t>. According to the data, their presence spans </a:t>
            </a:r>
            <a:r>
              <a:rPr lang="en-GB" b="1" dirty="0"/>
              <a:t>eight countries</a:t>
            </a:r>
            <a:r>
              <a:rPr lang="en-GB" dirty="0"/>
              <a:t>, indicating a strong regional footprint.</a:t>
            </a:r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2DA0B6C-680F-4011-7148-5BA1B85399E7}"/>
              </a:ext>
            </a:extLst>
          </p:cNvPr>
          <p:cNvSpPr txBox="1">
            <a:spLocks/>
          </p:cNvSpPr>
          <p:nvPr/>
        </p:nvSpPr>
        <p:spPr>
          <a:xfrm>
            <a:off x="800296" y="263737"/>
            <a:ext cx="10515600" cy="519778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600" b="0" kern="12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Conversion  of   Output  To  Visual</a:t>
            </a:r>
            <a:endParaRPr lang="en-IN" sz="2800" b="1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3A7E9-714E-1D2F-AFF1-A56D6602A556}"/>
              </a:ext>
            </a:extLst>
          </p:cNvPr>
          <p:cNvSpPr txBox="1"/>
          <p:nvPr/>
        </p:nvSpPr>
        <p:spPr>
          <a:xfrm>
            <a:off x="876104" y="695884"/>
            <a:ext cx="20942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216660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6059F-D977-C18C-B5A6-BDD45BDA9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5AB0F-F172-EE30-701A-124D4CE2B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9778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Percentage of Unique Products</a:t>
            </a:r>
            <a:endParaRPr lang="en-IN" sz="2800" b="1" dirty="0">
              <a:solidFill>
                <a:schemeClr val="accent3">
                  <a:lumMod val="40000"/>
                  <a:lumOff val="60000"/>
                </a:schemeClr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6B1B7-B0BF-9984-39B6-25EEBD4EE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2890"/>
            <a:ext cx="10515600" cy="5489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Question .2</a:t>
            </a:r>
            <a:endParaRPr lang="en-GB" sz="2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GB" sz="2000" dirty="0">
                <a:latin typeface="Aptos" panose="020B0004020202020204" pitchFamily="34" charset="0"/>
              </a:rPr>
              <a:t>What is the percentage of unique product increase in 2021 vs. 2020? The final output contains these fields, unique_products_2020 unique_products_2021 </a:t>
            </a:r>
            <a:r>
              <a:rPr lang="en-GB" sz="2000" dirty="0" err="1">
                <a:latin typeface="Aptos" panose="020B0004020202020204" pitchFamily="34" charset="0"/>
              </a:rPr>
              <a:t>percentage_chg</a:t>
            </a:r>
            <a:endParaRPr lang="en-GB" sz="2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Query</a:t>
            </a:r>
          </a:p>
          <a:p>
            <a:pPr marL="0" indent="0">
              <a:buNone/>
            </a:pPr>
            <a:endParaRPr lang="en-GB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GB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9A8F1D-FB3E-0180-2E7E-FDA613CE0D98}"/>
              </a:ext>
            </a:extLst>
          </p:cNvPr>
          <p:cNvSpPr txBox="1"/>
          <p:nvPr/>
        </p:nvSpPr>
        <p:spPr>
          <a:xfrm>
            <a:off x="1848465" y="2458065"/>
            <a:ext cx="8180438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2D050"/>
                </a:solidFill>
                <a:effectLst/>
              </a:rPr>
              <a:t>with</a:t>
            </a:r>
            <a:r>
              <a:rPr lang="en-US" sz="1600" dirty="0">
                <a:solidFill>
                  <a:schemeClr val="tx1"/>
                </a:solidFill>
                <a:effectLst/>
              </a:rPr>
              <a:t> cte1 </a:t>
            </a:r>
            <a:r>
              <a:rPr lang="en-US" sz="1600" dirty="0">
                <a:solidFill>
                  <a:srgbClr val="92D050"/>
                </a:solidFill>
                <a:effectLst/>
              </a:rPr>
              <a:t>as </a:t>
            </a:r>
            <a:r>
              <a:rPr lang="en-US" sz="1600" dirty="0">
                <a:solidFill>
                  <a:schemeClr val="tx1"/>
                </a:solidFill>
                <a:effectLst/>
              </a:rPr>
              <a:t>(</a:t>
            </a:r>
            <a:br>
              <a:rPr lang="en-US" sz="1600" dirty="0">
                <a:solidFill>
                  <a:schemeClr val="tx1"/>
                </a:solidFill>
                <a:effectLst/>
              </a:rPr>
            </a:br>
            <a:r>
              <a:rPr lang="en-US" sz="1600" dirty="0">
                <a:solidFill>
                  <a:schemeClr val="tx1"/>
                </a:solidFill>
                <a:effectLst/>
              </a:rPr>
              <a:t>         </a:t>
            </a:r>
            <a:r>
              <a:rPr lang="en-US" sz="1600" dirty="0">
                <a:solidFill>
                  <a:srgbClr val="92D050"/>
                </a:solidFill>
                <a:effectLst/>
              </a:rPr>
              <a:t>select count</a:t>
            </a:r>
            <a:r>
              <a:rPr lang="en-US" sz="1600" dirty="0">
                <a:solidFill>
                  <a:schemeClr val="tx1"/>
                </a:solidFill>
                <a:effectLst/>
              </a:rPr>
              <a:t>(</a:t>
            </a:r>
            <a:r>
              <a:rPr lang="en-US" sz="1600" dirty="0">
                <a:solidFill>
                  <a:srgbClr val="92D050"/>
                </a:solidFill>
                <a:effectLst/>
              </a:rPr>
              <a:t>distinct</a:t>
            </a:r>
            <a:r>
              <a:rPr lang="en-US" sz="1600" dirty="0">
                <a:solidFill>
                  <a:schemeClr val="tx1"/>
                </a:solidFill>
                <a:effectLst/>
              </a:rPr>
              <a:t> </a:t>
            </a:r>
            <a:r>
              <a:rPr lang="en-US" sz="1600" dirty="0" err="1">
                <a:solidFill>
                  <a:schemeClr val="tx1"/>
                </a:solidFill>
                <a:effectLst/>
              </a:rPr>
              <a:t>product_code</a:t>
            </a:r>
            <a:r>
              <a:rPr lang="en-US" sz="1600" dirty="0">
                <a:solidFill>
                  <a:schemeClr val="tx1"/>
                </a:solidFill>
                <a:effectLst/>
              </a:rPr>
              <a:t>) </a:t>
            </a:r>
            <a:r>
              <a:rPr lang="en-US" sz="1600" dirty="0">
                <a:solidFill>
                  <a:srgbClr val="92D050"/>
                </a:solidFill>
                <a:effectLst/>
              </a:rPr>
              <a:t>as</a:t>
            </a:r>
            <a:r>
              <a:rPr lang="en-US" sz="1600" dirty="0">
                <a:solidFill>
                  <a:schemeClr val="tx1"/>
                </a:solidFill>
                <a:effectLst/>
              </a:rPr>
              <a:t> unique_product_2020</a:t>
            </a:r>
            <a:br>
              <a:rPr lang="en-US" sz="1600" dirty="0">
                <a:solidFill>
                  <a:schemeClr val="tx1"/>
                </a:solidFill>
                <a:effectLst/>
              </a:rPr>
            </a:br>
            <a:r>
              <a:rPr lang="en-US" sz="1600" dirty="0">
                <a:solidFill>
                  <a:srgbClr val="92D050"/>
                </a:solidFill>
                <a:effectLst/>
              </a:rPr>
              <a:t>from </a:t>
            </a:r>
            <a:r>
              <a:rPr lang="en-US" sz="1600" dirty="0" err="1">
                <a:solidFill>
                  <a:schemeClr val="tx1"/>
                </a:solidFill>
                <a:effectLst/>
              </a:rPr>
              <a:t>fact_sales_monthly</a:t>
            </a:r>
            <a:br>
              <a:rPr lang="en-US" sz="1600" dirty="0">
                <a:solidFill>
                  <a:schemeClr val="tx1"/>
                </a:solidFill>
                <a:effectLst/>
              </a:rPr>
            </a:br>
            <a:r>
              <a:rPr lang="en-US" sz="1600" dirty="0">
                <a:solidFill>
                  <a:srgbClr val="92D050"/>
                </a:solidFill>
                <a:effectLst/>
              </a:rPr>
              <a:t>where</a:t>
            </a:r>
            <a:r>
              <a:rPr lang="en-US" sz="1600" dirty="0">
                <a:solidFill>
                  <a:schemeClr val="tx1"/>
                </a:solidFill>
                <a:effectLst/>
              </a:rPr>
              <a:t> </a:t>
            </a:r>
            <a:r>
              <a:rPr lang="en-US" sz="1600" dirty="0" err="1">
                <a:solidFill>
                  <a:schemeClr val="tx1"/>
                </a:solidFill>
                <a:effectLst/>
              </a:rPr>
              <a:t>fiscal_year</a:t>
            </a:r>
            <a:r>
              <a:rPr lang="en-US" sz="1600" dirty="0">
                <a:solidFill>
                  <a:schemeClr val="tx1"/>
                </a:solidFill>
                <a:effectLst/>
              </a:rPr>
              <a:t> = 2020</a:t>
            </a:r>
            <a:br>
              <a:rPr lang="en-US" sz="1600" dirty="0">
                <a:solidFill>
                  <a:schemeClr val="tx1"/>
                </a:solidFill>
                <a:effectLst/>
              </a:rPr>
            </a:br>
            <a:r>
              <a:rPr lang="en-US" sz="1600" dirty="0">
                <a:solidFill>
                  <a:schemeClr val="tx1"/>
                </a:solidFill>
                <a:effectLst/>
              </a:rPr>
              <a:t> ), </a:t>
            </a:r>
            <a:br>
              <a:rPr lang="en-US" sz="1600" dirty="0">
                <a:solidFill>
                  <a:schemeClr val="tx1"/>
                </a:solidFill>
                <a:effectLst/>
              </a:rPr>
            </a:br>
            <a:r>
              <a:rPr lang="en-US" sz="1600" dirty="0">
                <a:solidFill>
                  <a:schemeClr val="tx1"/>
                </a:solidFill>
                <a:effectLst/>
              </a:rPr>
              <a:t>cte2 </a:t>
            </a:r>
            <a:r>
              <a:rPr lang="en-US" sz="1600" dirty="0">
                <a:solidFill>
                  <a:srgbClr val="92D050"/>
                </a:solidFill>
                <a:effectLst/>
              </a:rPr>
              <a:t>as</a:t>
            </a:r>
            <a:r>
              <a:rPr lang="en-US" sz="1600" dirty="0">
                <a:solidFill>
                  <a:schemeClr val="tx1"/>
                </a:solidFill>
                <a:effectLst/>
              </a:rPr>
              <a:t> (</a:t>
            </a:r>
            <a:br>
              <a:rPr lang="en-US" sz="1600" dirty="0">
                <a:solidFill>
                  <a:schemeClr val="tx1"/>
                </a:solidFill>
                <a:effectLst/>
              </a:rPr>
            </a:br>
            <a:r>
              <a:rPr lang="en-US" sz="1600" dirty="0">
                <a:solidFill>
                  <a:schemeClr val="tx1"/>
                </a:solidFill>
                <a:effectLst/>
              </a:rPr>
              <a:t>        </a:t>
            </a:r>
            <a:r>
              <a:rPr lang="en-US" sz="1600" dirty="0">
                <a:solidFill>
                  <a:srgbClr val="92D050"/>
                </a:solidFill>
                <a:effectLst/>
              </a:rPr>
              <a:t>select count</a:t>
            </a:r>
            <a:r>
              <a:rPr lang="en-US" sz="1600" dirty="0">
                <a:solidFill>
                  <a:schemeClr val="tx1"/>
                </a:solidFill>
                <a:effectLst/>
              </a:rPr>
              <a:t>(</a:t>
            </a:r>
            <a:r>
              <a:rPr lang="en-US" sz="1600" dirty="0">
                <a:solidFill>
                  <a:srgbClr val="92D050"/>
                </a:solidFill>
                <a:effectLst/>
              </a:rPr>
              <a:t>distinct</a:t>
            </a:r>
            <a:r>
              <a:rPr lang="en-US" sz="1600" dirty="0">
                <a:solidFill>
                  <a:schemeClr val="tx1"/>
                </a:solidFill>
                <a:effectLst/>
              </a:rPr>
              <a:t> </a:t>
            </a:r>
            <a:r>
              <a:rPr lang="en-US" sz="1600" dirty="0" err="1">
                <a:solidFill>
                  <a:schemeClr val="tx1"/>
                </a:solidFill>
                <a:effectLst/>
              </a:rPr>
              <a:t>product_code</a:t>
            </a:r>
            <a:r>
              <a:rPr lang="en-US" sz="1600" dirty="0">
                <a:solidFill>
                  <a:schemeClr val="tx1"/>
                </a:solidFill>
                <a:effectLst/>
              </a:rPr>
              <a:t>) </a:t>
            </a:r>
            <a:r>
              <a:rPr lang="en-US" sz="1600" dirty="0">
                <a:solidFill>
                  <a:srgbClr val="92D050"/>
                </a:solidFill>
                <a:effectLst/>
              </a:rPr>
              <a:t>as</a:t>
            </a:r>
            <a:r>
              <a:rPr lang="en-US" sz="1600" dirty="0">
                <a:solidFill>
                  <a:schemeClr val="tx1"/>
                </a:solidFill>
                <a:effectLst/>
              </a:rPr>
              <a:t> unique_product_2021</a:t>
            </a:r>
            <a:br>
              <a:rPr lang="en-US" sz="1600" dirty="0">
                <a:solidFill>
                  <a:schemeClr val="tx1"/>
                </a:solidFill>
                <a:effectLst/>
              </a:rPr>
            </a:br>
            <a:r>
              <a:rPr lang="en-US" sz="1600" dirty="0">
                <a:solidFill>
                  <a:srgbClr val="92D050"/>
                </a:solidFill>
                <a:effectLst/>
              </a:rPr>
              <a:t>from</a:t>
            </a:r>
            <a:r>
              <a:rPr lang="en-US" sz="1600" dirty="0">
                <a:solidFill>
                  <a:schemeClr val="tx1"/>
                </a:solidFill>
                <a:effectLst/>
              </a:rPr>
              <a:t> </a:t>
            </a:r>
            <a:r>
              <a:rPr lang="en-US" sz="1600" dirty="0" err="1">
                <a:solidFill>
                  <a:schemeClr val="tx1"/>
                </a:solidFill>
                <a:effectLst/>
              </a:rPr>
              <a:t>fact_sales_monthly</a:t>
            </a:r>
            <a:br>
              <a:rPr lang="en-US" sz="1600" dirty="0">
                <a:solidFill>
                  <a:schemeClr val="tx1"/>
                </a:solidFill>
                <a:effectLst/>
              </a:rPr>
            </a:br>
            <a:r>
              <a:rPr lang="en-US" sz="1600" dirty="0">
                <a:solidFill>
                  <a:srgbClr val="92D050"/>
                </a:solidFill>
                <a:effectLst/>
              </a:rPr>
              <a:t>where</a:t>
            </a:r>
            <a:r>
              <a:rPr lang="en-US" sz="1600" dirty="0">
                <a:solidFill>
                  <a:schemeClr val="tx1"/>
                </a:solidFill>
                <a:effectLst/>
              </a:rPr>
              <a:t> </a:t>
            </a:r>
            <a:r>
              <a:rPr lang="en-US" sz="1600" dirty="0" err="1">
                <a:solidFill>
                  <a:schemeClr val="tx1"/>
                </a:solidFill>
                <a:effectLst/>
              </a:rPr>
              <a:t>fiscal_year</a:t>
            </a:r>
            <a:r>
              <a:rPr lang="en-US" sz="1600" dirty="0">
                <a:solidFill>
                  <a:schemeClr val="tx1"/>
                </a:solidFill>
                <a:effectLst/>
              </a:rPr>
              <a:t> = 2021 </a:t>
            </a:r>
            <a:br>
              <a:rPr lang="en-US" sz="1600" dirty="0">
                <a:solidFill>
                  <a:schemeClr val="tx1"/>
                </a:solidFill>
                <a:effectLst/>
              </a:rPr>
            </a:br>
            <a:r>
              <a:rPr lang="en-US" sz="1600" dirty="0">
                <a:solidFill>
                  <a:schemeClr val="tx1"/>
                </a:solidFill>
                <a:effectLst/>
              </a:rPr>
              <a:t>)</a:t>
            </a:r>
            <a:br>
              <a:rPr lang="en-US" sz="1600" dirty="0">
                <a:solidFill>
                  <a:schemeClr val="tx1"/>
                </a:solidFill>
                <a:effectLst/>
              </a:rPr>
            </a:br>
            <a:r>
              <a:rPr lang="en-US" sz="1600" dirty="0">
                <a:solidFill>
                  <a:srgbClr val="92D050"/>
                </a:solidFill>
                <a:effectLst/>
              </a:rPr>
              <a:t>select</a:t>
            </a:r>
            <a:r>
              <a:rPr lang="en-US" sz="1600" dirty="0">
                <a:solidFill>
                  <a:schemeClr val="tx1"/>
                </a:solidFill>
                <a:effectLst/>
              </a:rPr>
              <a:t> </a:t>
            </a:r>
            <a:br>
              <a:rPr lang="en-US" sz="1600" dirty="0">
                <a:solidFill>
                  <a:schemeClr val="tx1"/>
                </a:solidFill>
                <a:effectLst/>
              </a:rPr>
            </a:br>
            <a:r>
              <a:rPr lang="en-US" sz="1600" dirty="0">
                <a:solidFill>
                  <a:schemeClr val="tx1"/>
                </a:solidFill>
                <a:effectLst/>
              </a:rPr>
              <a:t>        unique_product_2020,</a:t>
            </a:r>
            <a:br>
              <a:rPr lang="en-US" sz="1600" dirty="0">
                <a:solidFill>
                  <a:schemeClr val="tx1"/>
                </a:solidFill>
                <a:effectLst/>
              </a:rPr>
            </a:br>
            <a:r>
              <a:rPr lang="en-US" sz="1600" dirty="0">
                <a:solidFill>
                  <a:schemeClr val="tx1"/>
                </a:solidFill>
                <a:effectLst/>
              </a:rPr>
              <a:t>        unique_product_2021,</a:t>
            </a:r>
            <a:br>
              <a:rPr lang="en-US" sz="1600" dirty="0">
                <a:solidFill>
                  <a:schemeClr val="tx1"/>
                </a:solidFill>
                <a:effectLst/>
              </a:rPr>
            </a:br>
            <a:r>
              <a:rPr lang="en-US" sz="1600" dirty="0">
                <a:solidFill>
                  <a:schemeClr val="tx1"/>
                </a:solidFill>
                <a:effectLst/>
              </a:rPr>
              <a:t>        (unique_product_2021-unique_product_2020)*100/unique_product_2020 </a:t>
            </a:r>
            <a:r>
              <a:rPr lang="en-US" sz="1600" dirty="0">
                <a:solidFill>
                  <a:srgbClr val="92D050"/>
                </a:solidFill>
                <a:effectLst/>
              </a:rPr>
              <a:t>as </a:t>
            </a:r>
            <a:r>
              <a:rPr lang="en-US" sz="1600" dirty="0" err="1">
                <a:solidFill>
                  <a:schemeClr val="tx1"/>
                </a:solidFill>
                <a:effectLst/>
              </a:rPr>
              <a:t>pct_change</a:t>
            </a:r>
            <a:br>
              <a:rPr lang="en-US" sz="1600" dirty="0">
                <a:solidFill>
                  <a:schemeClr val="tx1"/>
                </a:solidFill>
                <a:effectLst/>
              </a:rPr>
            </a:br>
            <a:r>
              <a:rPr lang="en-US" sz="1600" dirty="0">
                <a:solidFill>
                  <a:srgbClr val="92D050"/>
                </a:solidFill>
                <a:effectLst/>
              </a:rPr>
              <a:t>from</a:t>
            </a:r>
            <a:r>
              <a:rPr lang="en-US" sz="1600" dirty="0">
                <a:solidFill>
                  <a:schemeClr val="tx1"/>
                </a:solidFill>
                <a:effectLst/>
              </a:rPr>
              <a:t> cte1</a:t>
            </a:r>
            <a:br>
              <a:rPr lang="en-US" sz="1600" dirty="0">
                <a:solidFill>
                  <a:schemeClr val="tx1"/>
                </a:solidFill>
                <a:effectLst/>
              </a:rPr>
            </a:br>
            <a:r>
              <a:rPr lang="en-US" sz="1600" dirty="0">
                <a:solidFill>
                  <a:srgbClr val="92D050"/>
                </a:solidFill>
                <a:effectLst/>
              </a:rPr>
              <a:t>cross join </a:t>
            </a:r>
            <a:r>
              <a:rPr lang="en-US" sz="1600" dirty="0">
                <a:solidFill>
                  <a:schemeClr val="tx1"/>
                </a:solidFill>
                <a:effectLst/>
              </a:rPr>
              <a:t>cte2</a:t>
            </a:r>
            <a:br>
              <a:rPr lang="en-US" sz="1600" dirty="0">
                <a:solidFill>
                  <a:schemeClr val="tx1"/>
                </a:solidFill>
                <a:effectLst/>
              </a:rPr>
            </a:br>
            <a:r>
              <a:rPr lang="en-US" sz="1600" dirty="0">
                <a:solidFill>
                  <a:schemeClr val="tx1"/>
                </a:solidFill>
                <a:effectLst/>
              </a:rPr>
              <a:t>;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97996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BF5447-781F-FCAE-A16F-C249730BC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42" y="1828799"/>
            <a:ext cx="4864213" cy="9242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8A525355-D8F9-F5E4-57C9-0A3DAC6C034D}"/>
              </a:ext>
            </a:extLst>
          </p:cNvPr>
          <p:cNvSpPr/>
          <p:nvPr/>
        </p:nvSpPr>
        <p:spPr>
          <a:xfrm>
            <a:off x="5366936" y="2195261"/>
            <a:ext cx="583542" cy="191307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EBC2B0-73CE-8DE2-7269-F2CE15C0C730}"/>
              </a:ext>
            </a:extLst>
          </p:cNvPr>
          <p:cNvSpPr txBox="1"/>
          <p:nvPr/>
        </p:nvSpPr>
        <p:spPr>
          <a:xfrm>
            <a:off x="587678" y="4725076"/>
            <a:ext cx="1550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Insights</a:t>
            </a:r>
            <a:endParaRPr lang="en-IN" sz="2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4723A9-BEFF-4F1E-CE69-B08571C67CCC}"/>
              </a:ext>
            </a:extLst>
          </p:cNvPr>
          <p:cNvSpPr txBox="1"/>
          <p:nvPr/>
        </p:nvSpPr>
        <p:spPr>
          <a:xfrm>
            <a:off x="666336" y="5372722"/>
            <a:ext cx="10820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There was </a:t>
            </a:r>
            <a:r>
              <a:rPr lang="en-GB" dirty="0">
                <a:solidFill>
                  <a:srgbClr val="FFC000"/>
                </a:solidFill>
                <a:latin typeface="Aptos" panose="020B0004020202020204" pitchFamily="34" charset="0"/>
              </a:rPr>
              <a:t>36.32% </a:t>
            </a:r>
            <a:r>
              <a:rPr lang="en-GB" dirty="0">
                <a:latin typeface="Aptos" panose="020B0004020202020204" pitchFamily="34" charset="0"/>
              </a:rPr>
              <a:t> growth in the number of unique products from </a:t>
            </a:r>
            <a:r>
              <a:rPr lang="en-GB" dirty="0">
                <a:solidFill>
                  <a:srgbClr val="FFC000"/>
                </a:solidFill>
                <a:latin typeface="Aptos" panose="020B0004020202020204" pitchFamily="34" charset="0"/>
              </a:rPr>
              <a:t>2020</a:t>
            </a:r>
            <a:r>
              <a:rPr lang="en-GB" dirty="0">
                <a:latin typeface="Aptos" panose="020B0004020202020204" pitchFamily="34" charset="0"/>
              </a:rPr>
              <a:t> to </a:t>
            </a:r>
            <a:r>
              <a:rPr lang="en-GB" dirty="0">
                <a:solidFill>
                  <a:srgbClr val="FFC000"/>
                </a:solidFill>
                <a:latin typeface="Aptos" panose="020B0004020202020204" pitchFamily="34" charset="0"/>
              </a:rPr>
              <a:t>2021</a:t>
            </a:r>
            <a:r>
              <a:rPr lang="en-GB" dirty="0">
                <a:latin typeface="Aptos" panose="020B0004020202020204" pitchFamily="34" charset="0"/>
              </a:rPr>
              <a:t>.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58EEC85-F359-263E-6713-5D7EDA62A9BD}"/>
              </a:ext>
            </a:extLst>
          </p:cNvPr>
          <p:cNvSpPr txBox="1">
            <a:spLocks/>
          </p:cNvSpPr>
          <p:nvPr/>
        </p:nvSpPr>
        <p:spPr>
          <a:xfrm>
            <a:off x="800296" y="263737"/>
            <a:ext cx="10515600" cy="519778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600" b="0" kern="12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Conversion  of   Output  To  Visual</a:t>
            </a:r>
            <a:endParaRPr lang="en-IN" sz="2800" b="1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D6C5F9-2AC7-E1A1-3394-2914C57AD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064" y="1171396"/>
            <a:ext cx="5503459" cy="32987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ight Brace 10">
            <a:extLst>
              <a:ext uri="{FF2B5EF4-FFF2-40B4-BE49-F238E27FC236}">
                <a16:creationId xmlns:a16="http://schemas.microsoft.com/office/drawing/2014/main" id="{25ED4075-FC52-4B50-F681-EAD02F2187E4}"/>
              </a:ext>
            </a:extLst>
          </p:cNvPr>
          <p:cNvSpPr/>
          <p:nvPr/>
        </p:nvSpPr>
        <p:spPr>
          <a:xfrm>
            <a:off x="9959891" y="1796092"/>
            <a:ext cx="292912" cy="721169"/>
          </a:xfrm>
          <a:prstGeom prst="rightBrace">
            <a:avLst>
              <a:gd name="adj1" fmla="val 8333"/>
              <a:gd name="adj2" fmla="val 48485"/>
            </a:avLst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D33640-A1EE-6799-5FFC-F0B8494E5976}"/>
              </a:ext>
            </a:extLst>
          </p:cNvPr>
          <p:cNvSpPr txBox="1"/>
          <p:nvPr/>
        </p:nvSpPr>
        <p:spPr>
          <a:xfrm>
            <a:off x="10324902" y="1987399"/>
            <a:ext cx="89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Aptos" panose="020B0004020202020204" pitchFamily="34" charset="0"/>
              </a:rPr>
              <a:t>36.32 %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C48A5E-249C-B594-CC13-90A0010AB440}"/>
              </a:ext>
            </a:extLst>
          </p:cNvPr>
          <p:cNvSpPr txBox="1"/>
          <p:nvPr/>
        </p:nvSpPr>
        <p:spPr>
          <a:xfrm>
            <a:off x="302542" y="973394"/>
            <a:ext cx="16442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Output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90398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1B3C1-58F0-9ADC-579C-6268B343A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BEC9D-575A-A843-B07C-75653C923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7765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+mn-lt"/>
              </a:rPr>
              <a:t>Unique Product Counts for each Segment</a:t>
            </a:r>
            <a:endParaRPr lang="en-IN" sz="2600" b="1" dirty="0">
              <a:solidFill>
                <a:schemeClr val="accent3">
                  <a:lumMod val="40000"/>
                  <a:lumOff val="6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C9182-DAFD-EA57-7EEE-9E1682BB6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2890"/>
            <a:ext cx="10515600" cy="5174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Question. 3</a:t>
            </a:r>
            <a:endParaRPr lang="en-GB" sz="2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GB" sz="2000" dirty="0"/>
              <a:t>Provide a report with all the unique product counts for each segment and sort them in descending order of product counts. The final output contains 2 fields, segment </a:t>
            </a:r>
            <a:r>
              <a:rPr lang="en-GB" sz="2000" dirty="0" err="1"/>
              <a:t>product_count</a:t>
            </a:r>
            <a:r>
              <a:rPr lang="en-GB" sz="2000" dirty="0"/>
              <a:t> </a:t>
            </a:r>
          </a:p>
          <a:p>
            <a:pPr marL="0" indent="0">
              <a:buNone/>
            </a:pPr>
            <a:endParaRPr lang="en-GB" sz="2000" b="1" dirty="0">
              <a:solidFill>
                <a:schemeClr val="accent5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Query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51E167-0D77-6CFE-C785-117AFC1F3B79}"/>
              </a:ext>
            </a:extLst>
          </p:cNvPr>
          <p:cNvSpPr txBox="1"/>
          <p:nvPr/>
        </p:nvSpPr>
        <p:spPr>
          <a:xfrm>
            <a:off x="1791477" y="2817845"/>
            <a:ext cx="81455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3"/>
                </a:solidFill>
              </a:rPr>
              <a:t>select</a:t>
            </a:r>
            <a:endParaRPr lang="en-GB" dirty="0"/>
          </a:p>
          <a:p>
            <a:r>
              <a:rPr lang="en-GB" dirty="0"/>
              <a:t>       segment, </a:t>
            </a:r>
          </a:p>
          <a:p>
            <a:r>
              <a:rPr lang="en-GB" dirty="0"/>
              <a:t>         </a:t>
            </a:r>
            <a:r>
              <a:rPr lang="en-GB" dirty="0">
                <a:solidFill>
                  <a:schemeClr val="accent3"/>
                </a:solidFill>
              </a:rPr>
              <a:t>count</a:t>
            </a:r>
            <a:r>
              <a:rPr lang="en-GB" dirty="0"/>
              <a:t>(</a:t>
            </a:r>
            <a:r>
              <a:rPr lang="en-GB" dirty="0">
                <a:solidFill>
                  <a:schemeClr val="accent3"/>
                </a:solidFill>
              </a:rPr>
              <a:t>distinct</a:t>
            </a:r>
            <a:r>
              <a:rPr lang="en-GB" dirty="0"/>
              <a:t> </a:t>
            </a:r>
            <a:r>
              <a:rPr lang="en-GB" dirty="0" err="1"/>
              <a:t>product_code</a:t>
            </a:r>
            <a:r>
              <a:rPr lang="en-GB" dirty="0"/>
              <a:t>) as </a:t>
            </a:r>
            <a:r>
              <a:rPr lang="en-GB" dirty="0" err="1"/>
              <a:t>product_count</a:t>
            </a:r>
            <a:r>
              <a:rPr lang="en-GB" dirty="0"/>
              <a:t> </a:t>
            </a:r>
          </a:p>
          <a:p>
            <a:r>
              <a:rPr lang="en-GB" dirty="0">
                <a:solidFill>
                  <a:schemeClr val="accent3"/>
                </a:solidFill>
              </a:rPr>
              <a:t>from</a:t>
            </a:r>
            <a:r>
              <a:rPr lang="en-GB" dirty="0"/>
              <a:t> </a:t>
            </a:r>
            <a:r>
              <a:rPr lang="en-GB" dirty="0" err="1"/>
              <a:t>dim_product</a:t>
            </a:r>
            <a:r>
              <a:rPr lang="en-GB" dirty="0"/>
              <a:t> </a:t>
            </a:r>
          </a:p>
          <a:p>
            <a:r>
              <a:rPr lang="en-GB" dirty="0">
                <a:solidFill>
                  <a:schemeClr val="accent3"/>
                </a:solidFill>
              </a:rPr>
              <a:t>group by</a:t>
            </a:r>
            <a:r>
              <a:rPr lang="en-GB" dirty="0"/>
              <a:t> segment order by </a:t>
            </a:r>
            <a:r>
              <a:rPr lang="en-GB" dirty="0" err="1"/>
              <a:t>product_count</a:t>
            </a:r>
            <a:r>
              <a:rPr lang="en-GB" dirty="0"/>
              <a:t> </a:t>
            </a:r>
            <a:r>
              <a:rPr lang="en-GB" dirty="0" err="1"/>
              <a:t>desc</a:t>
            </a:r>
            <a:endParaRPr lang="en-GB" dirty="0"/>
          </a:p>
          <a:p>
            <a:r>
              <a:rPr lang="en-GB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1287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8D79A-EC0C-4389-623B-2E4126A86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w: Right 4">
            <a:extLst>
              <a:ext uri="{FF2B5EF4-FFF2-40B4-BE49-F238E27FC236}">
                <a16:creationId xmlns:a16="http://schemas.microsoft.com/office/drawing/2014/main" id="{D33B4C35-76D0-D556-F0F6-93774ECBAE25}"/>
              </a:ext>
            </a:extLst>
          </p:cNvPr>
          <p:cNvSpPr/>
          <p:nvPr/>
        </p:nvSpPr>
        <p:spPr>
          <a:xfrm>
            <a:off x="4869448" y="2379405"/>
            <a:ext cx="715275" cy="275305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5DFBA8-8510-169E-5D7A-049CD19D40EB}"/>
              </a:ext>
            </a:extLst>
          </p:cNvPr>
          <p:cNvSpPr txBox="1"/>
          <p:nvPr/>
        </p:nvSpPr>
        <p:spPr>
          <a:xfrm>
            <a:off x="587678" y="4725076"/>
            <a:ext cx="1550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Insights</a:t>
            </a:r>
            <a:endParaRPr lang="en-IN" sz="24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5E0DF1-C48D-7FF9-1C9F-7122E4852358}"/>
              </a:ext>
            </a:extLst>
          </p:cNvPr>
          <p:cNvSpPr txBox="1"/>
          <p:nvPr/>
        </p:nvSpPr>
        <p:spPr>
          <a:xfrm>
            <a:off x="666336" y="5372722"/>
            <a:ext cx="108201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/>
              <a:t>The </a:t>
            </a:r>
            <a:r>
              <a:rPr lang="en-GB" sz="1600" dirty="0">
                <a:solidFill>
                  <a:srgbClr val="FFC000"/>
                </a:solidFill>
              </a:rPr>
              <a:t>Notebook</a:t>
            </a:r>
            <a:r>
              <a:rPr lang="en-GB" sz="1600" dirty="0"/>
              <a:t> and </a:t>
            </a:r>
            <a:r>
              <a:rPr lang="en-GB" sz="1600" dirty="0">
                <a:solidFill>
                  <a:srgbClr val="FFC000"/>
                </a:solidFill>
              </a:rPr>
              <a:t>Accessories</a:t>
            </a:r>
            <a:r>
              <a:rPr lang="en-GB" sz="1600" dirty="0"/>
              <a:t> segments have the highest variety of products, showing strong product presence in these categories.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/>
              <a:t>The</a:t>
            </a:r>
            <a:r>
              <a:rPr lang="en-GB" sz="1600" dirty="0">
                <a:solidFill>
                  <a:srgbClr val="FFC000"/>
                </a:solidFill>
              </a:rPr>
              <a:t> </a:t>
            </a:r>
            <a:r>
              <a:rPr lang="en-GB" sz="1600" dirty="0" err="1">
                <a:solidFill>
                  <a:srgbClr val="FFC000"/>
                </a:solidFill>
              </a:rPr>
              <a:t>AtliQ</a:t>
            </a:r>
            <a:r>
              <a:rPr lang="en-GB" sz="1600" dirty="0">
                <a:solidFill>
                  <a:srgbClr val="FFC000"/>
                </a:solidFill>
              </a:rPr>
              <a:t> Hardware </a:t>
            </a:r>
            <a:r>
              <a:rPr lang="en-GB" sz="1600" dirty="0"/>
              <a:t>can explore </a:t>
            </a:r>
            <a:r>
              <a:rPr lang="en-GB" sz="1600" dirty="0">
                <a:solidFill>
                  <a:srgbClr val="FFC000"/>
                </a:solidFill>
              </a:rPr>
              <a:t>market trends </a:t>
            </a:r>
            <a:r>
              <a:rPr lang="en-GB" sz="1600" dirty="0"/>
              <a:t>and </a:t>
            </a:r>
            <a:r>
              <a:rPr lang="en-GB" sz="1600" dirty="0">
                <a:solidFill>
                  <a:srgbClr val="FFC000"/>
                </a:solidFill>
              </a:rPr>
              <a:t>customer</a:t>
            </a:r>
            <a:r>
              <a:rPr lang="en-GB" sz="1600" dirty="0"/>
              <a:t> needs to introduce </a:t>
            </a:r>
            <a:r>
              <a:rPr lang="en-GB" sz="1600" dirty="0">
                <a:solidFill>
                  <a:srgbClr val="FFC000"/>
                </a:solidFill>
              </a:rPr>
              <a:t>new</a:t>
            </a:r>
            <a:r>
              <a:rPr lang="en-GB" sz="1600" dirty="0"/>
              <a:t> products in the </a:t>
            </a:r>
            <a:r>
              <a:rPr lang="en-GB" sz="1600" dirty="0">
                <a:solidFill>
                  <a:srgbClr val="FFC000"/>
                </a:solidFill>
              </a:rPr>
              <a:t>Networking</a:t>
            </a:r>
            <a:r>
              <a:rPr lang="en-GB" sz="1600" dirty="0"/>
              <a:t> and </a:t>
            </a:r>
            <a:r>
              <a:rPr lang="en-GB" sz="1600" dirty="0">
                <a:solidFill>
                  <a:srgbClr val="FFC000"/>
                </a:solidFill>
              </a:rPr>
              <a:t>Storage</a:t>
            </a:r>
            <a:r>
              <a:rPr lang="en-GB" sz="1600" dirty="0"/>
              <a:t> segments.</a:t>
            </a:r>
            <a:endParaRPr lang="en-IN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DE43AA-9008-BE1E-75E4-5ECE6C975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68" y="1431161"/>
            <a:ext cx="4121945" cy="27479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00FCC8A-D681-0FC1-9D6B-E5978A371BD7}"/>
              </a:ext>
            </a:extLst>
          </p:cNvPr>
          <p:cNvSpPr txBox="1">
            <a:spLocks/>
          </p:cNvSpPr>
          <p:nvPr/>
        </p:nvSpPr>
        <p:spPr>
          <a:xfrm>
            <a:off x="800296" y="263737"/>
            <a:ext cx="10515600" cy="519778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600" b="0" kern="12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Conversion  of   Output  To  Visual</a:t>
            </a:r>
            <a:endParaRPr lang="en-IN" sz="2800" b="1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9F7023-EDD4-A969-33BF-22C58ECB2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116" y="1171039"/>
            <a:ext cx="5732206" cy="35540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Right Brace 12">
            <a:extLst>
              <a:ext uri="{FF2B5EF4-FFF2-40B4-BE49-F238E27FC236}">
                <a16:creationId xmlns:a16="http://schemas.microsoft.com/office/drawing/2014/main" id="{AF760C31-4F29-9BC0-7BD6-FC72AB8448EF}"/>
              </a:ext>
            </a:extLst>
          </p:cNvPr>
          <p:cNvSpPr/>
          <p:nvPr/>
        </p:nvSpPr>
        <p:spPr>
          <a:xfrm rot="16200000">
            <a:off x="9981596" y="2343170"/>
            <a:ext cx="379705" cy="1937008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3767CF-154C-B43D-7F46-97EE4213573F}"/>
              </a:ext>
            </a:extLst>
          </p:cNvPr>
          <p:cNvSpPr txBox="1"/>
          <p:nvPr/>
        </p:nvSpPr>
        <p:spPr>
          <a:xfrm>
            <a:off x="9114972" y="2752489"/>
            <a:ext cx="211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Alarming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197438-4A63-4553-0D78-B8462E0BEF08}"/>
              </a:ext>
            </a:extLst>
          </p:cNvPr>
          <p:cNvSpPr txBox="1"/>
          <p:nvPr/>
        </p:nvSpPr>
        <p:spPr>
          <a:xfrm>
            <a:off x="570468" y="783515"/>
            <a:ext cx="1407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Output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86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8C79B-A3DA-874F-E4B5-48BA96284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E84A5-3464-ED60-4479-2676123A8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7765"/>
          </a:xfrm>
        </p:spPr>
        <p:txBody>
          <a:bodyPr>
            <a:normAutofit/>
          </a:bodyPr>
          <a:lstStyle/>
          <a:p>
            <a:pPr algn="ctr"/>
            <a:r>
              <a:rPr lang="en-IN" sz="2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+mn-lt"/>
              </a:rPr>
              <a:t>Increase in Unique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25DDE-96B3-AD32-733A-F5008CFD3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2890"/>
            <a:ext cx="10515600" cy="5174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Question. 4</a:t>
            </a:r>
            <a:endParaRPr lang="en-GB" sz="24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GB" sz="2000" dirty="0">
                <a:latin typeface="Aptos" panose="020B0004020202020204" pitchFamily="34" charset="0"/>
              </a:rPr>
              <a:t>Follow-up: Which segment had the most increase in unique products in 2021 vs 2020? The final output contains these fields, segment product_count_2020 product_count_2021 difference </a:t>
            </a:r>
          </a:p>
          <a:p>
            <a:pPr marL="0" indent="0">
              <a:buNone/>
            </a:pPr>
            <a:r>
              <a:rPr lang="en-GB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Query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E1987-6068-3EE6-00F6-5B7F54F58D4C}"/>
              </a:ext>
            </a:extLst>
          </p:cNvPr>
          <p:cNvSpPr txBox="1"/>
          <p:nvPr/>
        </p:nvSpPr>
        <p:spPr>
          <a:xfrm>
            <a:off x="1838131" y="2841522"/>
            <a:ext cx="951566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accent3"/>
                </a:solidFill>
              </a:rPr>
              <a:t>with</a:t>
            </a:r>
            <a:r>
              <a:rPr lang="en-GB" sz="1600" dirty="0"/>
              <a:t> </a:t>
            </a:r>
            <a:r>
              <a:rPr lang="en-GB" sz="1600" dirty="0" err="1"/>
              <a:t>unique_product</a:t>
            </a:r>
            <a:r>
              <a:rPr lang="en-GB" sz="1600" dirty="0"/>
              <a:t> </a:t>
            </a:r>
            <a:r>
              <a:rPr lang="en-GB" sz="1600" dirty="0">
                <a:solidFill>
                  <a:schemeClr val="accent3"/>
                </a:solidFill>
              </a:rPr>
              <a:t>as</a:t>
            </a:r>
            <a:r>
              <a:rPr lang="en-GB" sz="1600" dirty="0"/>
              <a:t>( </a:t>
            </a:r>
          </a:p>
          <a:p>
            <a:r>
              <a:rPr lang="en-GB" sz="1600" dirty="0"/>
              <a:t>          </a:t>
            </a:r>
            <a:r>
              <a:rPr lang="en-GB" sz="1600" dirty="0">
                <a:solidFill>
                  <a:schemeClr val="accent3"/>
                </a:solidFill>
              </a:rPr>
              <a:t>select</a:t>
            </a:r>
          </a:p>
          <a:p>
            <a:r>
              <a:rPr lang="en-GB" sz="1600" dirty="0"/>
              <a:t>                       </a:t>
            </a:r>
            <a:r>
              <a:rPr lang="en-GB" sz="1600" dirty="0" err="1"/>
              <a:t>p.segment</a:t>
            </a:r>
            <a:r>
              <a:rPr lang="en-GB" sz="1600" dirty="0"/>
              <a:t>, </a:t>
            </a:r>
          </a:p>
          <a:p>
            <a:r>
              <a:rPr lang="en-GB" sz="1600" dirty="0"/>
              <a:t>               count(distinct(case when </a:t>
            </a:r>
            <a:r>
              <a:rPr lang="en-GB" sz="1600" dirty="0" err="1"/>
              <a:t>fiscal_year</a:t>
            </a:r>
            <a:r>
              <a:rPr lang="en-GB" sz="1600" dirty="0"/>
              <a:t> = 2020 then </a:t>
            </a:r>
            <a:r>
              <a:rPr lang="en-GB" sz="1600" dirty="0" err="1"/>
              <a:t>s.product_code</a:t>
            </a:r>
            <a:r>
              <a:rPr lang="en-GB" sz="1600" dirty="0"/>
              <a:t> end)) as product_count_2020, </a:t>
            </a:r>
          </a:p>
          <a:p>
            <a:r>
              <a:rPr lang="en-GB" sz="1600" dirty="0"/>
              <a:t>              count(distinct(case when </a:t>
            </a:r>
            <a:r>
              <a:rPr lang="en-GB" sz="1600" dirty="0" err="1"/>
              <a:t>fiscal_year</a:t>
            </a:r>
            <a:r>
              <a:rPr lang="en-GB" sz="1600" dirty="0"/>
              <a:t> = 2021 then </a:t>
            </a:r>
            <a:r>
              <a:rPr lang="en-GB" sz="1600" dirty="0" err="1"/>
              <a:t>s.Product_code</a:t>
            </a:r>
            <a:r>
              <a:rPr lang="en-GB" sz="1600" dirty="0"/>
              <a:t> end)) as product_count_2021 </a:t>
            </a:r>
          </a:p>
          <a:p>
            <a:r>
              <a:rPr lang="en-GB" sz="1600" dirty="0">
                <a:solidFill>
                  <a:schemeClr val="accent3"/>
                </a:solidFill>
              </a:rPr>
              <a:t>from</a:t>
            </a:r>
            <a:r>
              <a:rPr lang="en-GB" sz="1600" dirty="0"/>
              <a:t> </a:t>
            </a:r>
            <a:r>
              <a:rPr lang="en-GB" sz="1600" dirty="0" err="1"/>
              <a:t>fact_sales_monthly</a:t>
            </a:r>
            <a:r>
              <a:rPr lang="en-GB" sz="1600" dirty="0"/>
              <a:t> s </a:t>
            </a:r>
          </a:p>
          <a:p>
            <a:r>
              <a:rPr lang="en-GB" sz="1600" dirty="0">
                <a:solidFill>
                  <a:schemeClr val="accent3"/>
                </a:solidFill>
              </a:rPr>
              <a:t>join</a:t>
            </a:r>
            <a:r>
              <a:rPr lang="en-GB" sz="1600" dirty="0"/>
              <a:t> </a:t>
            </a:r>
            <a:r>
              <a:rPr lang="en-GB" sz="1600" dirty="0" err="1"/>
              <a:t>dim_product</a:t>
            </a:r>
            <a:r>
              <a:rPr lang="en-GB" sz="1600" dirty="0"/>
              <a:t> p </a:t>
            </a:r>
          </a:p>
          <a:p>
            <a:r>
              <a:rPr lang="en-GB" sz="1600" dirty="0">
                <a:solidFill>
                  <a:schemeClr val="accent3"/>
                </a:solidFill>
              </a:rPr>
              <a:t>on</a:t>
            </a:r>
            <a:r>
              <a:rPr lang="en-GB" sz="1600" dirty="0"/>
              <a:t> </a:t>
            </a:r>
            <a:r>
              <a:rPr lang="en-GB" sz="1600" dirty="0" err="1"/>
              <a:t>p.product_code</a:t>
            </a:r>
            <a:r>
              <a:rPr lang="en-GB" sz="1600" dirty="0"/>
              <a:t>= </a:t>
            </a:r>
            <a:r>
              <a:rPr lang="en-GB" sz="1600" dirty="0" err="1"/>
              <a:t>s.product_code</a:t>
            </a:r>
            <a:r>
              <a:rPr lang="en-GB" sz="1600" dirty="0"/>
              <a:t> </a:t>
            </a:r>
          </a:p>
          <a:p>
            <a:r>
              <a:rPr lang="en-GB" sz="1600" dirty="0">
                <a:solidFill>
                  <a:schemeClr val="accent3"/>
                </a:solidFill>
              </a:rPr>
              <a:t>group by </a:t>
            </a:r>
            <a:r>
              <a:rPr lang="en-GB" sz="1600" dirty="0" err="1"/>
              <a:t>p.segment</a:t>
            </a:r>
            <a:r>
              <a:rPr lang="en-GB" sz="1600" dirty="0"/>
              <a:t> ) </a:t>
            </a:r>
          </a:p>
          <a:p>
            <a:r>
              <a:rPr lang="en-GB" sz="1600" dirty="0">
                <a:solidFill>
                  <a:schemeClr val="accent3"/>
                </a:solidFill>
              </a:rPr>
              <a:t>select</a:t>
            </a:r>
            <a:r>
              <a:rPr lang="en-GB" sz="1600" dirty="0"/>
              <a:t> *, (product_count_2021 - product_count_2020) AS difference </a:t>
            </a:r>
          </a:p>
          <a:p>
            <a:r>
              <a:rPr lang="en-GB" sz="1600" dirty="0">
                <a:solidFill>
                  <a:schemeClr val="accent3"/>
                </a:solidFill>
              </a:rPr>
              <a:t>from</a:t>
            </a:r>
            <a:r>
              <a:rPr lang="en-GB" sz="1600" dirty="0"/>
              <a:t> </a:t>
            </a:r>
            <a:r>
              <a:rPr lang="en-GB" sz="1600" dirty="0" err="1"/>
              <a:t>unique_product</a:t>
            </a:r>
            <a:r>
              <a:rPr lang="en-GB" sz="1600" dirty="0"/>
              <a:t> </a:t>
            </a:r>
          </a:p>
          <a:p>
            <a:r>
              <a:rPr lang="en-GB" sz="1600" dirty="0">
                <a:solidFill>
                  <a:schemeClr val="accent3"/>
                </a:solidFill>
              </a:rPr>
              <a:t>Order by </a:t>
            </a:r>
            <a:r>
              <a:rPr lang="en-GB" sz="1600" dirty="0"/>
              <a:t>difference </a:t>
            </a:r>
            <a:r>
              <a:rPr lang="en-GB" sz="1600" dirty="0" err="1">
                <a:solidFill>
                  <a:schemeClr val="accent3"/>
                </a:solidFill>
              </a:rPr>
              <a:t>desc</a:t>
            </a:r>
            <a:endParaRPr lang="en-GB" sz="1600" dirty="0">
              <a:solidFill>
                <a:schemeClr val="accent3"/>
              </a:solidFill>
            </a:endParaRPr>
          </a:p>
          <a:p>
            <a:r>
              <a:rPr lang="en-GB" sz="1600" dirty="0"/>
              <a:t>;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569676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64778-ADC3-5B29-2FE9-C4719F002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w: Right 4">
            <a:extLst>
              <a:ext uri="{FF2B5EF4-FFF2-40B4-BE49-F238E27FC236}">
                <a16:creationId xmlns:a16="http://schemas.microsoft.com/office/drawing/2014/main" id="{9CD35BB3-F769-7718-57A2-E4D663A93CD6}"/>
              </a:ext>
            </a:extLst>
          </p:cNvPr>
          <p:cNvSpPr/>
          <p:nvPr/>
        </p:nvSpPr>
        <p:spPr>
          <a:xfrm>
            <a:off x="4677746" y="2379406"/>
            <a:ext cx="572680" cy="2556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E141D6-6234-2A18-DD61-F097452C02F0}"/>
              </a:ext>
            </a:extLst>
          </p:cNvPr>
          <p:cNvSpPr txBox="1"/>
          <p:nvPr/>
        </p:nvSpPr>
        <p:spPr>
          <a:xfrm>
            <a:off x="587678" y="4725076"/>
            <a:ext cx="1550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Insights</a:t>
            </a:r>
            <a:endParaRPr lang="en-IN" sz="24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B1FC99-D82B-722F-0556-4BB2E36046C1}"/>
              </a:ext>
            </a:extLst>
          </p:cNvPr>
          <p:cNvSpPr txBox="1"/>
          <p:nvPr/>
        </p:nvSpPr>
        <p:spPr>
          <a:xfrm>
            <a:off x="666336" y="5372722"/>
            <a:ext cx="108201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latin typeface="Aptos" panose="020B0004020202020204" pitchFamily="34" charset="0"/>
              </a:rPr>
              <a:t>The </a:t>
            </a:r>
            <a:r>
              <a:rPr lang="en-GB" sz="1600" b="1" dirty="0">
                <a:solidFill>
                  <a:srgbClr val="FFC000"/>
                </a:solidFill>
                <a:latin typeface="Aptos" panose="020B0004020202020204" pitchFamily="34" charset="0"/>
              </a:rPr>
              <a:t>Accessories</a:t>
            </a:r>
            <a:r>
              <a:rPr lang="en-GB" sz="1600" dirty="0">
                <a:latin typeface="Aptos" panose="020B0004020202020204" pitchFamily="34" charset="0"/>
              </a:rPr>
              <a:t> segment saw the highest increase of </a:t>
            </a:r>
            <a:r>
              <a:rPr lang="en-GB" sz="1600" b="1" dirty="0">
                <a:solidFill>
                  <a:srgbClr val="FFC000"/>
                </a:solidFill>
                <a:latin typeface="Aptos" panose="020B0004020202020204" pitchFamily="34" charset="0"/>
              </a:rPr>
              <a:t>34</a:t>
            </a:r>
            <a:r>
              <a:rPr lang="en-GB" sz="1600" b="1" dirty="0">
                <a:latin typeface="Aptos" panose="020B0004020202020204" pitchFamily="34" charset="0"/>
              </a:rPr>
              <a:t> unique products</a:t>
            </a:r>
            <a:r>
              <a:rPr lang="en-GB" sz="1600" dirty="0">
                <a:latin typeface="Aptos" panose="020B0004020202020204" pitchFamily="34" charset="0"/>
              </a:rPr>
              <a:t> (69 → 103), while </a:t>
            </a:r>
            <a:r>
              <a:rPr lang="en-GB" sz="1600" b="1" dirty="0">
                <a:solidFill>
                  <a:srgbClr val="FFC000"/>
                </a:solidFill>
                <a:latin typeface="Aptos" panose="020B0004020202020204" pitchFamily="34" charset="0"/>
              </a:rPr>
              <a:t>Notebook</a:t>
            </a:r>
            <a:r>
              <a:rPr lang="en-GB" sz="1600" dirty="0">
                <a:latin typeface="Aptos" panose="020B0004020202020204" pitchFamily="34" charset="0"/>
              </a:rPr>
              <a:t> grew by </a:t>
            </a:r>
            <a:r>
              <a:rPr lang="en-GB" sz="1600" b="1" dirty="0">
                <a:solidFill>
                  <a:srgbClr val="FFC000"/>
                </a:solidFill>
                <a:latin typeface="Aptos" panose="020B0004020202020204" pitchFamily="34" charset="0"/>
              </a:rPr>
              <a:t>16</a:t>
            </a:r>
            <a:r>
              <a:rPr lang="en-GB" sz="1600" dirty="0">
                <a:latin typeface="Aptos" panose="020B0004020202020204" pitchFamily="34" charset="0"/>
              </a:rPr>
              <a:t> (92 → 108), showing the company’s focus on expanding product variety to meet customer demand.</a:t>
            </a:r>
            <a:endParaRPr lang="en-IN" sz="1600" dirty="0">
              <a:latin typeface="Aptos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B7BEF3-4038-9F4C-10B0-55E0265EC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74" y="1506146"/>
            <a:ext cx="4334525" cy="21988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7A7752C-285E-5DC0-3DCB-7D71242ABCE2}"/>
              </a:ext>
            </a:extLst>
          </p:cNvPr>
          <p:cNvSpPr txBox="1">
            <a:spLocks/>
          </p:cNvSpPr>
          <p:nvPr/>
        </p:nvSpPr>
        <p:spPr>
          <a:xfrm>
            <a:off x="800296" y="263737"/>
            <a:ext cx="10515600" cy="519778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600" b="0" kern="12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Conversion  of   Output  To  Visual</a:t>
            </a:r>
            <a:endParaRPr lang="en-IN" sz="2800" b="1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11048B-8815-7695-2BB7-2C31E228F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710" y="1107958"/>
            <a:ext cx="6007510" cy="34308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974A09-EECD-FBBA-F775-4A7A061FC5E6}"/>
              </a:ext>
            </a:extLst>
          </p:cNvPr>
          <p:cNvSpPr txBox="1"/>
          <p:nvPr/>
        </p:nvSpPr>
        <p:spPr>
          <a:xfrm>
            <a:off x="333570" y="744011"/>
            <a:ext cx="1597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Output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19317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7416D-A2FD-3203-BD79-E44C373FF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6E0A-A4FF-D471-FC74-7ADD387C9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187844"/>
            <a:ext cx="10515600" cy="493193"/>
          </a:xfrm>
        </p:spPr>
        <p:txBody>
          <a:bodyPr>
            <a:normAutofit/>
          </a:bodyPr>
          <a:lstStyle/>
          <a:p>
            <a:pPr algn="ctr"/>
            <a:r>
              <a:rPr lang="en-IN" sz="2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+mn-lt"/>
              </a:rPr>
              <a:t>List of Manufacturing Costs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77731-4306-254D-5E1E-D0B7E31FD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3772"/>
            <a:ext cx="10515600" cy="5393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Question. 5</a:t>
            </a:r>
            <a:endParaRPr lang="en-GB" sz="24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GB" sz="1800" dirty="0"/>
              <a:t>Get the products that have the highest and lowest manufacturing costs. The final output should contain these fields, </a:t>
            </a:r>
            <a:r>
              <a:rPr lang="en-GB" sz="1800" dirty="0" err="1"/>
              <a:t>product_code</a:t>
            </a:r>
            <a:r>
              <a:rPr lang="en-GB" sz="1800" dirty="0"/>
              <a:t>, product, </a:t>
            </a:r>
            <a:r>
              <a:rPr lang="en-GB" sz="1800" dirty="0" err="1"/>
              <a:t>manufacturing_cost</a:t>
            </a:r>
            <a:r>
              <a:rPr lang="en-GB" sz="1800" dirty="0"/>
              <a:t>  </a:t>
            </a:r>
          </a:p>
          <a:p>
            <a:pPr marL="0" indent="0">
              <a:buNone/>
            </a:pPr>
            <a:r>
              <a:rPr lang="en-GB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Query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41259-410B-B2DD-BC1D-48CEE6E58B0E}"/>
              </a:ext>
            </a:extLst>
          </p:cNvPr>
          <p:cNvSpPr txBox="1"/>
          <p:nvPr/>
        </p:nvSpPr>
        <p:spPr>
          <a:xfrm>
            <a:off x="2680996" y="2202025"/>
            <a:ext cx="6830008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(</a:t>
            </a:r>
            <a:r>
              <a:rPr lang="en-IN" sz="1600" dirty="0">
                <a:solidFill>
                  <a:schemeClr val="accent3"/>
                </a:solidFill>
              </a:rPr>
              <a:t>select</a:t>
            </a:r>
          </a:p>
          <a:p>
            <a:r>
              <a:rPr lang="en-IN" sz="1600" dirty="0"/>
              <a:t>       </a:t>
            </a:r>
            <a:r>
              <a:rPr lang="en-IN" sz="1600" dirty="0" err="1"/>
              <a:t>p.product_code</a:t>
            </a:r>
            <a:r>
              <a:rPr lang="en-IN" sz="1600" dirty="0"/>
              <a:t>,</a:t>
            </a:r>
          </a:p>
          <a:p>
            <a:r>
              <a:rPr lang="en-IN" sz="1600" dirty="0"/>
              <a:t>       </a:t>
            </a:r>
            <a:r>
              <a:rPr lang="en-IN" sz="1600" dirty="0" err="1"/>
              <a:t>p.product</a:t>
            </a:r>
            <a:r>
              <a:rPr lang="en-IN" sz="1600" dirty="0"/>
              <a:t>,</a:t>
            </a:r>
          </a:p>
          <a:p>
            <a:r>
              <a:rPr lang="en-IN" sz="1600" dirty="0"/>
              <a:t>       </a:t>
            </a:r>
            <a:r>
              <a:rPr lang="en-IN" sz="1600" dirty="0" err="1"/>
              <a:t>m.manufacturing_cost</a:t>
            </a:r>
            <a:endParaRPr lang="en-IN" sz="1600" dirty="0"/>
          </a:p>
          <a:p>
            <a:r>
              <a:rPr lang="en-IN" sz="1600" dirty="0">
                <a:solidFill>
                  <a:schemeClr val="accent3"/>
                </a:solidFill>
              </a:rPr>
              <a:t>from</a:t>
            </a:r>
            <a:r>
              <a:rPr lang="en-IN" sz="1600" dirty="0"/>
              <a:t> </a:t>
            </a:r>
            <a:r>
              <a:rPr lang="en-IN" sz="1600" dirty="0" err="1"/>
              <a:t>dim_product</a:t>
            </a:r>
            <a:r>
              <a:rPr lang="en-IN" sz="1600" dirty="0"/>
              <a:t> p</a:t>
            </a:r>
          </a:p>
          <a:p>
            <a:r>
              <a:rPr lang="en-IN" sz="1600" dirty="0">
                <a:solidFill>
                  <a:schemeClr val="accent3"/>
                </a:solidFill>
              </a:rPr>
              <a:t>join</a:t>
            </a:r>
            <a:r>
              <a:rPr lang="en-IN" sz="1600" dirty="0"/>
              <a:t> </a:t>
            </a:r>
            <a:r>
              <a:rPr lang="en-IN" sz="1600" dirty="0" err="1"/>
              <a:t>fact_manufacturing_cost</a:t>
            </a:r>
            <a:r>
              <a:rPr lang="en-IN" sz="1600" dirty="0"/>
              <a:t> m</a:t>
            </a:r>
          </a:p>
          <a:p>
            <a:r>
              <a:rPr lang="en-IN" sz="1600" dirty="0">
                <a:solidFill>
                  <a:schemeClr val="accent3"/>
                </a:solidFill>
              </a:rPr>
              <a:t>on</a:t>
            </a:r>
            <a:r>
              <a:rPr lang="en-IN" sz="1600" dirty="0"/>
              <a:t> </a:t>
            </a:r>
            <a:r>
              <a:rPr lang="en-IN" sz="1600" dirty="0" err="1"/>
              <a:t>p.product_code</a:t>
            </a:r>
            <a:r>
              <a:rPr lang="en-IN" sz="1600" dirty="0"/>
              <a:t>= </a:t>
            </a:r>
            <a:r>
              <a:rPr lang="en-IN" sz="1600" dirty="0" err="1"/>
              <a:t>m.product_code</a:t>
            </a:r>
            <a:endParaRPr lang="en-IN" sz="1600" dirty="0"/>
          </a:p>
          <a:p>
            <a:r>
              <a:rPr lang="en-IN" sz="1600" dirty="0">
                <a:solidFill>
                  <a:schemeClr val="accent3"/>
                </a:solidFill>
              </a:rPr>
              <a:t>order by</a:t>
            </a:r>
            <a:r>
              <a:rPr lang="en-IN" sz="1600" dirty="0"/>
              <a:t> </a:t>
            </a:r>
            <a:r>
              <a:rPr lang="en-IN" sz="1600" dirty="0" err="1"/>
              <a:t>manufacturing_cost</a:t>
            </a:r>
            <a:r>
              <a:rPr lang="en-IN" sz="1600" dirty="0"/>
              <a:t> </a:t>
            </a:r>
            <a:r>
              <a:rPr lang="en-IN" sz="1600" dirty="0" err="1"/>
              <a:t>desc</a:t>
            </a:r>
            <a:endParaRPr lang="en-IN" sz="1600" dirty="0"/>
          </a:p>
          <a:p>
            <a:r>
              <a:rPr lang="en-IN" sz="1600" dirty="0"/>
              <a:t>limit 1)</a:t>
            </a:r>
          </a:p>
          <a:p>
            <a:r>
              <a:rPr lang="en-IN" sz="1600" dirty="0">
                <a:solidFill>
                  <a:schemeClr val="accent3"/>
                </a:solidFill>
              </a:rPr>
              <a:t>Union</a:t>
            </a:r>
          </a:p>
          <a:p>
            <a:r>
              <a:rPr lang="en-IN" sz="1600" dirty="0"/>
              <a:t>(</a:t>
            </a:r>
            <a:r>
              <a:rPr lang="en-IN" sz="1600" dirty="0">
                <a:solidFill>
                  <a:schemeClr val="accent3"/>
                </a:solidFill>
              </a:rPr>
              <a:t>select</a:t>
            </a:r>
            <a:r>
              <a:rPr lang="en-IN" sz="1600" dirty="0"/>
              <a:t> 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p.product_code</a:t>
            </a:r>
            <a:r>
              <a:rPr lang="en-IN" sz="1600" dirty="0"/>
              <a:t>,     </a:t>
            </a:r>
            <a:r>
              <a:rPr lang="en-IN" sz="1600" dirty="0" err="1"/>
              <a:t>p.product</a:t>
            </a:r>
            <a:r>
              <a:rPr lang="en-IN" sz="1600" dirty="0"/>
              <a:t>,     </a:t>
            </a:r>
            <a:r>
              <a:rPr lang="en-IN" sz="1600" dirty="0" err="1"/>
              <a:t>m.manufacturing_cost</a:t>
            </a:r>
            <a:endParaRPr lang="en-IN" sz="1600" dirty="0"/>
          </a:p>
          <a:p>
            <a:r>
              <a:rPr lang="en-IN" sz="1600" dirty="0">
                <a:solidFill>
                  <a:schemeClr val="accent3"/>
                </a:solidFill>
              </a:rPr>
              <a:t>from</a:t>
            </a:r>
            <a:r>
              <a:rPr lang="en-IN" sz="1600" dirty="0"/>
              <a:t> </a:t>
            </a:r>
            <a:r>
              <a:rPr lang="en-IN" sz="1600" dirty="0" err="1"/>
              <a:t>dim_product</a:t>
            </a:r>
            <a:r>
              <a:rPr lang="en-IN" sz="1600" dirty="0"/>
              <a:t> p</a:t>
            </a:r>
          </a:p>
          <a:p>
            <a:r>
              <a:rPr lang="en-IN" sz="1600" dirty="0">
                <a:solidFill>
                  <a:schemeClr val="accent3"/>
                </a:solidFill>
              </a:rPr>
              <a:t>join</a:t>
            </a:r>
            <a:r>
              <a:rPr lang="en-IN" sz="1600" dirty="0"/>
              <a:t> </a:t>
            </a:r>
            <a:r>
              <a:rPr lang="en-IN" sz="1600" dirty="0" err="1"/>
              <a:t>fact_manufacturing_cost</a:t>
            </a:r>
            <a:r>
              <a:rPr lang="en-IN" sz="1600" dirty="0"/>
              <a:t> m</a:t>
            </a:r>
          </a:p>
          <a:p>
            <a:r>
              <a:rPr lang="en-IN" sz="1600" dirty="0">
                <a:solidFill>
                  <a:schemeClr val="accent3"/>
                </a:solidFill>
              </a:rPr>
              <a:t>on</a:t>
            </a:r>
            <a:r>
              <a:rPr lang="en-IN" sz="1600" dirty="0"/>
              <a:t> </a:t>
            </a:r>
            <a:r>
              <a:rPr lang="en-IN" sz="1600" dirty="0" err="1"/>
              <a:t>p.product_code</a:t>
            </a:r>
            <a:r>
              <a:rPr lang="en-IN" sz="1600" dirty="0"/>
              <a:t>= </a:t>
            </a:r>
            <a:r>
              <a:rPr lang="en-IN" sz="1600" dirty="0" err="1"/>
              <a:t>m.product_code</a:t>
            </a:r>
            <a:endParaRPr lang="en-IN" sz="1600" dirty="0"/>
          </a:p>
          <a:p>
            <a:r>
              <a:rPr lang="en-IN" sz="1600" dirty="0">
                <a:solidFill>
                  <a:schemeClr val="accent3"/>
                </a:solidFill>
              </a:rPr>
              <a:t>order by</a:t>
            </a:r>
            <a:r>
              <a:rPr lang="en-IN" sz="1600" dirty="0"/>
              <a:t> </a:t>
            </a:r>
            <a:r>
              <a:rPr lang="en-IN" sz="1600" dirty="0" err="1"/>
              <a:t>manufacturing_cost</a:t>
            </a:r>
            <a:r>
              <a:rPr lang="en-IN" sz="1600" dirty="0"/>
              <a:t> </a:t>
            </a:r>
            <a:r>
              <a:rPr lang="en-IN" sz="1600" dirty="0" err="1"/>
              <a:t>asc</a:t>
            </a:r>
            <a:endParaRPr lang="en-IN" sz="1600" dirty="0"/>
          </a:p>
          <a:p>
            <a:r>
              <a:rPr lang="en-IN" sz="1600" dirty="0">
                <a:solidFill>
                  <a:schemeClr val="accent3"/>
                </a:solidFill>
              </a:rPr>
              <a:t>limit</a:t>
            </a:r>
            <a:r>
              <a:rPr lang="en-IN" sz="1600" dirty="0"/>
              <a:t> 1)</a:t>
            </a:r>
          </a:p>
          <a:p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194210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87EC8-7A1C-1E71-DE05-9718BF490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9AFA5B6-B06F-3F09-9648-4E1070DF5C7D}"/>
              </a:ext>
            </a:extLst>
          </p:cNvPr>
          <p:cNvSpPr txBox="1"/>
          <p:nvPr/>
        </p:nvSpPr>
        <p:spPr>
          <a:xfrm>
            <a:off x="654702" y="5014103"/>
            <a:ext cx="1550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Insights</a:t>
            </a:r>
            <a:endParaRPr lang="en-IN" sz="24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D50032-4E23-DA0A-EF12-9A16ECF39E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199" y="1248876"/>
            <a:ext cx="7023504" cy="9665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98705B0-71FE-94FF-E31A-0C439B06F1D0}"/>
              </a:ext>
            </a:extLst>
          </p:cNvPr>
          <p:cNvCxnSpPr>
            <a:cxnSpLocks/>
          </p:cNvCxnSpPr>
          <p:nvPr/>
        </p:nvCxnSpPr>
        <p:spPr>
          <a:xfrm flipH="1">
            <a:off x="2412737" y="2276147"/>
            <a:ext cx="425171" cy="349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720D6D4-1B0D-6C9A-C489-7B499CCC9216}"/>
              </a:ext>
            </a:extLst>
          </p:cNvPr>
          <p:cNvCxnSpPr>
            <a:cxnSpLocks/>
          </p:cNvCxnSpPr>
          <p:nvPr/>
        </p:nvCxnSpPr>
        <p:spPr>
          <a:xfrm>
            <a:off x="7033230" y="2236054"/>
            <a:ext cx="422951" cy="3015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A8BF0F91-9ACD-94C2-2001-7431D2008BD4}"/>
              </a:ext>
            </a:extLst>
          </p:cNvPr>
          <p:cNvSpPr txBox="1">
            <a:spLocks/>
          </p:cNvSpPr>
          <p:nvPr/>
        </p:nvSpPr>
        <p:spPr>
          <a:xfrm>
            <a:off x="838200" y="386030"/>
            <a:ext cx="10515600" cy="519778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600" b="0" kern="12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Conversion  of   Output  To  Visual</a:t>
            </a:r>
            <a:endParaRPr lang="en-IN" sz="2800" b="1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24C0F2-D879-4158-BFC3-3E541E87BB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967" y="2982268"/>
            <a:ext cx="1056941" cy="10860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53ED7BC-8608-84AA-ED45-973786EC5302}"/>
              </a:ext>
            </a:extLst>
          </p:cNvPr>
          <p:cNvSpPr txBox="1"/>
          <p:nvPr/>
        </p:nvSpPr>
        <p:spPr>
          <a:xfrm>
            <a:off x="1442371" y="4426450"/>
            <a:ext cx="18073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accent5"/>
                </a:solidFill>
                <a:latin typeface="Aptos" panose="020B0004020202020204" pitchFamily="34" charset="0"/>
              </a:rPr>
              <a:t>AQ HOME Allin 1 Gen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6A61B9-8C7A-5EF1-49FB-CBF6E002911F}"/>
              </a:ext>
            </a:extLst>
          </p:cNvPr>
          <p:cNvSpPr txBox="1"/>
          <p:nvPr/>
        </p:nvSpPr>
        <p:spPr>
          <a:xfrm>
            <a:off x="1780967" y="2612936"/>
            <a:ext cx="126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3"/>
                </a:solidFill>
                <a:latin typeface="Aptos" panose="020B0004020202020204" pitchFamily="34" charset="0"/>
              </a:rPr>
              <a:t>$240.54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1C709AE-FB49-DD77-CCB6-EE60D2148C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594" y="2933912"/>
            <a:ext cx="1090665" cy="109066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7097F55-10B9-60AF-14F2-02CF60760525}"/>
              </a:ext>
            </a:extLst>
          </p:cNvPr>
          <p:cNvSpPr txBox="1"/>
          <p:nvPr/>
        </p:nvSpPr>
        <p:spPr>
          <a:xfrm>
            <a:off x="7205163" y="2511668"/>
            <a:ext cx="126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3"/>
                </a:solidFill>
                <a:latin typeface="Aptos" panose="020B0004020202020204" pitchFamily="34" charset="0"/>
              </a:rPr>
              <a:t>$0.89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1EE8A0-ED31-67AC-DE75-3655441251D7}"/>
              </a:ext>
            </a:extLst>
          </p:cNvPr>
          <p:cNvSpPr txBox="1"/>
          <p:nvPr/>
        </p:nvSpPr>
        <p:spPr>
          <a:xfrm>
            <a:off x="6682983" y="4346332"/>
            <a:ext cx="19258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5"/>
                </a:solidFill>
                <a:latin typeface="Aptos" panose="020B0004020202020204" pitchFamily="34" charset="0"/>
              </a:rPr>
              <a:t>AQ Master wired 1 Gen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A17C8D-352E-0221-21D6-706C579DF414}"/>
              </a:ext>
            </a:extLst>
          </p:cNvPr>
          <p:cNvSpPr txBox="1"/>
          <p:nvPr/>
        </p:nvSpPr>
        <p:spPr>
          <a:xfrm>
            <a:off x="1647592" y="4097632"/>
            <a:ext cx="1396915" cy="276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highlight>
                  <a:srgbClr val="808080"/>
                </a:highlight>
                <a:latin typeface="Aptos" panose="020B0004020202020204" pitchFamily="34" charset="0"/>
              </a:rPr>
              <a:t>Personal Desktop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BB0E1C-7644-3E1A-AC12-C12E9B395219}"/>
              </a:ext>
            </a:extLst>
          </p:cNvPr>
          <p:cNvSpPr txBox="1"/>
          <p:nvPr/>
        </p:nvSpPr>
        <p:spPr>
          <a:xfrm>
            <a:off x="7030102" y="4096687"/>
            <a:ext cx="9496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highlight>
                  <a:srgbClr val="808080"/>
                </a:highlight>
                <a:latin typeface="Aptos" panose="020B0004020202020204" pitchFamily="34" charset="0"/>
              </a:rPr>
              <a:t>Mouse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988C5F-9CC3-E92C-E9F8-7895BA460F59}"/>
              </a:ext>
            </a:extLst>
          </p:cNvPr>
          <p:cNvSpPr txBox="1"/>
          <p:nvPr/>
        </p:nvSpPr>
        <p:spPr>
          <a:xfrm>
            <a:off x="399272" y="5604602"/>
            <a:ext cx="10620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ptos" panose="020B0004020202020204" pitchFamily="34" charset="0"/>
              </a:rPr>
              <a:t>Desktop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has the highest manufacturing cost at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ptos" panose="020B0004020202020204" pitchFamily="34" charset="0"/>
              </a:rPr>
              <a:t>$240.54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, reflecting its complex build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ptos" panose="020B0004020202020204" pitchFamily="34" charset="0"/>
              </a:rPr>
              <a:t>Mouse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has the lowest cost at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ptos" panose="020B0004020202020204" pitchFamily="34" charset="0"/>
              </a:rPr>
              <a:t>$0.89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, making it the most economical to produce.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6ECC78-FAFF-EEDD-5215-9A3A4DB07817}"/>
              </a:ext>
            </a:extLst>
          </p:cNvPr>
          <p:cNvSpPr txBox="1"/>
          <p:nvPr/>
        </p:nvSpPr>
        <p:spPr>
          <a:xfrm>
            <a:off x="1442371" y="689629"/>
            <a:ext cx="1597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Output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33299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766FC-B3C8-9F3E-CA24-5F0FD7792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F9229-B834-B2EE-1E70-532D6DC1E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7765"/>
          </a:xfrm>
        </p:spPr>
        <p:txBody>
          <a:bodyPr>
            <a:normAutofit/>
          </a:bodyPr>
          <a:lstStyle/>
          <a:p>
            <a:pPr algn="ctr"/>
            <a:r>
              <a:rPr lang="en-IN" sz="2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+mn-lt"/>
              </a:rPr>
              <a:t>Top 5 Customers with % Discount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BC2F2-001B-427E-D1BF-48BF64DB5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2890"/>
            <a:ext cx="10515600" cy="5174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Question. 6</a:t>
            </a:r>
            <a:endParaRPr lang="en-GB" sz="24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Aptos" panose="020B0004020202020204" pitchFamily="34" charset="0"/>
              </a:rPr>
              <a:t>Generate a report which contains the top 5 customers who received an average high </a:t>
            </a:r>
            <a:r>
              <a:rPr lang="en-GB" sz="1800" dirty="0" err="1">
                <a:latin typeface="Aptos" panose="020B0004020202020204" pitchFamily="34" charset="0"/>
              </a:rPr>
              <a:t>pre_invoice_discount_pct</a:t>
            </a:r>
            <a:r>
              <a:rPr lang="en-GB" sz="1800" dirty="0">
                <a:latin typeface="Aptos" panose="020B0004020202020204" pitchFamily="34" charset="0"/>
              </a:rPr>
              <a:t> for the fiscal year 2021 and in the Indian market. The final output contains these fields, </a:t>
            </a:r>
            <a:r>
              <a:rPr lang="en-GB" sz="1800" dirty="0" err="1">
                <a:latin typeface="Aptos" panose="020B0004020202020204" pitchFamily="34" charset="0"/>
              </a:rPr>
              <a:t>customer_code</a:t>
            </a:r>
            <a:r>
              <a:rPr lang="en-GB" sz="1800" dirty="0">
                <a:latin typeface="Aptos" panose="020B0004020202020204" pitchFamily="34" charset="0"/>
              </a:rPr>
              <a:t> customer </a:t>
            </a:r>
            <a:r>
              <a:rPr lang="en-GB" sz="1800" dirty="0" err="1">
                <a:latin typeface="Aptos" panose="020B0004020202020204" pitchFamily="34" charset="0"/>
              </a:rPr>
              <a:t>average_discount_percentage</a:t>
            </a:r>
            <a:r>
              <a:rPr lang="en-GB" sz="1800" dirty="0">
                <a:latin typeface="Aptos" panose="020B00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GB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Query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1DCFF-93C0-C3C0-B17A-26100BB6644E}"/>
              </a:ext>
            </a:extLst>
          </p:cNvPr>
          <p:cNvSpPr txBox="1"/>
          <p:nvPr/>
        </p:nvSpPr>
        <p:spPr>
          <a:xfrm>
            <a:off x="2095501" y="2637533"/>
            <a:ext cx="821055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3"/>
                </a:solidFill>
              </a:rPr>
              <a:t>with</a:t>
            </a:r>
            <a:r>
              <a:rPr lang="en-IN" sz="1600" dirty="0"/>
              <a:t> cte1 </a:t>
            </a:r>
            <a:r>
              <a:rPr lang="en-IN" sz="1600" dirty="0">
                <a:solidFill>
                  <a:schemeClr val="accent3"/>
                </a:solidFill>
              </a:rPr>
              <a:t>as</a:t>
            </a:r>
            <a:r>
              <a:rPr lang="en-IN" sz="1600" dirty="0"/>
              <a:t>(</a:t>
            </a:r>
          </a:p>
          <a:p>
            <a:r>
              <a:rPr lang="en-IN" sz="1600" dirty="0"/>
              <a:t> </a:t>
            </a:r>
            <a:r>
              <a:rPr lang="en-IN" sz="1600" dirty="0">
                <a:solidFill>
                  <a:schemeClr val="accent3"/>
                </a:solidFill>
              </a:rPr>
              <a:t>select</a:t>
            </a:r>
            <a:r>
              <a:rPr lang="en-IN" sz="1600" dirty="0"/>
              <a:t> *</a:t>
            </a:r>
          </a:p>
          <a:p>
            <a:r>
              <a:rPr lang="en-IN" sz="1600" dirty="0"/>
              <a:t> </a:t>
            </a:r>
            <a:r>
              <a:rPr lang="en-IN" sz="1600" dirty="0">
                <a:solidFill>
                  <a:schemeClr val="accent3"/>
                </a:solidFill>
              </a:rPr>
              <a:t>from</a:t>
            </a:r>
            <a:r>
              <a:rPr lang="en-IN" sz="1600" dirty="0"/>
              <a:t> </a:t>
            </a:r>
            <a:r>
              <a:rPr lang="en-IN" sz="1600" dirty="0" err="1"/>
              <a:t>fact_pre_invoice_deductions</a:t>
            </a:r>
            <a:r>
              <a:rPr lang="en-IN" sz="1600" dirty="0"/>
              <a:t>  </a:t>
            </a:r>
          </a:p>
          <a:p>
            <a:r>
              <a:rPr lang="en-IN" sz="1600" dirty="0"/>
              <a:t> </a:t>
            </a:r>
            <a:r>
              <a:rPr lang="en-IN" sz="1600" dirty="0">
                <a:solidFill>
                  <a:schemeClr val="accent3"/>
                </a:solidFill>
              </a:rPr>
              <a:t>join</a:t>
            </a:r>
            <a:r>
              <a:rPr lang="en-IN" sz="1600" dirty="0"/>
              <a:t> </a:t>
            </a:r>
            <a:r>
              <a:rPr lang="en-IN" sz="1600" dirty="0" err="1"/>
              <a:t>dim_customer</a:t>
            </a:r>
            <a:r>
              <a:rPr lang="en-IN" sz="1600" dirty="0"/>
              <a:t> c     </a:t>
            </a:r>
          </a:p>
          <a:p>
            <a:r>
              <a:rPr lang="en-IN" sz="1600" dirty="0">
                <a:solidFill>
                  <a:schemeClr val="accent3"/>
                </a:solidFill>
              </a:rPr>
              <a:t>using</a:t>
            </a:r>
            <a:r>
              <a:rPr lang="en-IN" sz="1600" dirty="0"/>
              <a:t>(</a:t>
            </a:r>
            <a:r>
              <a:rPr lang="en-IN" sz="1600" dirty="0" err="1"/>
              <a:t>customer_code</a:t>
            </a:r>
            <a:r>
              <a:rPr lang="en-IN" sz="1600" dirty="0"/>
              <a:t>)   </a:t>
            </a:r>
          </a:p>
          <a:p>
            <a:r>
              <a:rPr lang="en-IN" sz="1600" dirty="0">
                <a:solidFill>
                  <a:schemeClr val="accent3"/>
                </a:solidFill>
              </a:rPr>
              <a:t>where</a:t>
            </a:r>
            <a:r>
              <a:rPr lang="en-IN" sz="1600" dirty="0"/>
              <a:t> </a:t>
            </a:r>
            <a:r>
              <a:rPr lang="en-IN" sz="1600" dirty="0" err="1"/>
              <a:t>fiscal_year</a:t>
            </a:r>
            <a:r>
              <a:rPr lang="en-IN" sz="1600" dirty="0"/>
              <a:t>=2021   and </a:t>
            </a:r>
            <a:r>
              <a:rPr lang="en-IN" sz="1600" dirty="0" err="1"/>
              <a:t>c.market</a:t>
            </a:r>
            <a:r>
              <a:rPr lang="en-IN" sz="1600" dirty="0"/>
              <a:t>='India’   </a:t>
            </a:r>
          </a:p>
          <a:p>
            <a:r>
              <a:rPr lang="en-IN" sz="1600" dirty="0"/>
              <a:t>)   </a:t>
            </a:r>
          </a:p>
          <a:p>
            <a:r>
              <a:rPr lang="en-IN" sz="1600" dirty="0">
                <a:solidFill>
                  <a:schemeClr val="accent3"/>
                </a:solidFill>
              </a:rPr>
              <a:t>select</a:t>
            </a:r>
            <a:r>
              <a:rPr lang="en-IN" sz="1600" dirty="0"/>
              <a:t> </a:t>
            </a:r>
          </a:p>
          <a:p>
            <a:r>
              <a:rPr lang="en-IN" sz="1600" dirty="0"/>
              <a:t>             </a:t>
            </a:r>
            <a:r>
              <a:rPr lang="en-IN" sz="1600" dirty="0" err="1"/>
              <a:t>customer_code</a:t>
            </a:r>
            <a:r>
              <a:rPr lang="en-IN" sz="1600" dirty="0"/>
              <a:t>,</a:t>
            </a:r>
          </a:p>
          <a:p>
            <a:r>
              <a:rPr lang="en-IN" sz="1600" dirty="0"/>
              <a:t>             customer,</a:t>
            </a:r>
          </a:p>
          <a:p>
            <a:r>
              <a:rPr lang="en-IN" sz="1600" dirty="0"/>
              <a:t>        </a:t>
            </a:r>
            <a:r>
              <a:rPr lang="en-IN" sz="1600" dirty="0" err="1">
                <a:solidFill>
                  <a:schemeClr val="accent3"/>
                </a:solidFill>
              </a:rPr>
              <a:t>concat</a:t>
            </a:r>
            <a:r>
              <a:rPr lang="en-IN" sz="1600" dirty="0"/>
              <a:t>(round(</a:t>
            </a:r>
            <a:r>
              <a:rPr lang="en-IN" sz="1600" dirty="0" err="1"/>
              <a:t>avg</a:t>
            </a:r>
            <a:r>
              <a:rPr lang="en-IN" sz="1600" dirty="0"/>
              <a:t>(</a:t>
            </a:r>
            <a:r>
              <a:rPr lang="en-IN" sz="1600" dirty="0" err="1"/>
              <a:t>pre_invoice_discount_pct</a:t>
            </a:r>
            <a:r>
              <a:rPr lang="en-IN" sz="1600" dirty="0"/>
              <a:t>)*100,2),"%") as </a:t>
            </a:r>
            <a:r>
              <a:rPr lang="en-IN" sz="1600" dirty="0" err="1"/>
              <a:t>avg_discount_pct</a:t>
            </a:r>
            <a:r>
              <a:rPr lang="en-IN" sz="1600" dirty="0"/>
              <a:t> </a:t>
            </a:r>
          </a:p>
          <a:p>
            <a:r>
              <a:rPr lang="en-IN" sz="1600" dirty="0">
                <a:solidFill>
                  <a:schemeClr val="accent3"/>
                </a:solidFill>
              </a:rPr>
              <a:t>from</a:t>
            </a:r>
            <a:r>
              <a:rPr lang="en-IN" sz="1600" dirty="0"/>
              <a:t> cte1</a:t>
            </a:r>
          </a:p>
          <a:p>
            <a:r>
              <a:rPr lang="en-IN" sz="1600" dirty="0">
                <a:solidFill>
                  <a:schemeClr val="accent3"/>
                </a:solidFill>
              </a:rPr>
              <a:t>group by</a:t>
            </a:r>
            <a:r>
              <a:rPr lang="en-IN" sz="1600" dirty="0"/>
              <a:t> </a:t>
            </a:r>
            <a:r>
              <a:rPr lang="en-IN" sz="1600" dirty="0" err="1"/>
              <a:t>customer_code</a:t>
            </a:r>
            <a:r>
              <a:rPr lang="en-IN" sz="1600" dirty="0"/>
              <a:t>, customer</a:t>
            </a:r>
          </a:p>
          <a:p>
            <a:r>
              <a:rPr lang="en-IN" sz="1600" dirty="0">
                <a:solidFill>
                  <a:schemeClr val="accent3"/>
                </a:solidFill>
              </a:rPr>
              <a:t>order by</a:t>
            </a:r>
            <a:r>
              <a:rPr lang="en-IN" sz="1600" dirty="0"/>
              <a:t> </a:t>
            </a:r>
            <a:r>
              <a:rPr lang="en-IN" sz="1600" dirty="0" err="1"/>
              <a:t>avg</a:t>
            </a:r>
            <a:r>
              <a:rPr lang="en-IN" sz="1600" dirty="0"/>
              <a:t>(</a:t>
            </a:r>
            <a:r>
              <a:rPr lang="en-IN" sz="1600" dirty="0" err="1"/>
              <a:t>pre_invoice_discount_pct</a:t>
            </a:r>
            <a:r>
              <a:rPr lang="en-IN" sz="1600" dirty="0"/>
              <a:t>)*100 </a:t>
            </a:r>
            <a:r>
              <a:rPr lang="en-IN" sz="1600" dirty="0" err="1"/>
              <a:t>desc</a:t>
            </a:r>
            <a:endParaRPr lang="en-IN" sz="1600" dirty="0"/>
          </a:p>
          <a:p>
            <a:r>
              <a:rPr lang="en-IN" sz="1600" dirty="0">
                <a:solidFill>
                  <a:schemeClr val="accent3"/>
                </a:solidFill>
              </a:rPr>
              <a:t>limit</a:t>
            </a:r>
            <a:r>
              <a:rPr lang="en-IN" sz="1600" dirty="0"/>
              <a:t> 5</a:t>
            </a:r>
          </a:p>
          <a:p>
            <a:r>
              <a:rPr lang="en-IN" sz="1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14828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FC40B-9853-C46C-F372-093F3E267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737118"/>
            <a:ext cx="10233800" cy="5663681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/>
              <a:t> </a:t>
            </a:r>
            <a:r>
              <a:rPr lang="en-GB" sz="2400" b="1" dirty="0">
                <a:solidFill>
                  <a:schemeClr val="accent3"/>
                </a:solidFill>
                <a:latin typeface="Aptos" panose="020B0004020202020204" pitchFamily="34" charset="0"/>
              </a:rPr>
              <a:t>Fiscal Year of </a:t>
            </a:r>
            <a:r>
              <a:rPr lang="en-GB" sz="2400" b="1" dirty="0" err="1">
                <a:solidFill>
                  <a:schemeClr val="accent3"/>
                </a:solidFill>
                <a:latin typeface="Aptos" panose="020B0004020202020204" pitchFamily="34" charset="0"/>
              </a:rPr>
              <a:t>Atliq</a:t>
            </a:r>
            <a:r>
              <a:rPr lang="en-GB" sz="2400" b="1" dirty="0">
                <a:solidFill>
                  <a:schemeClr val="accent3"/>
                </a:solidFill>
                <a:latin typeface="Aptos" panose="020B0004020202020204" pitchFamily="34" charset="0"/>
              </a:rPr>
              <a:t> </a:t>
            </a:r>
            <a:r>
              <a:rPr lang="en-GB" sz="2400" b="1" dirty="0" err="1">
                <a:solidFill>
                  <a:schemeClr val="accent3"/>
                </a:solidFill>
                <a:latin typeface="Aptos" panose="020B0004020202020204" pitchFamily="34" charset="0"/>
              </a:rPr>
              <a:t>Hardwares</a:t>
            </a:r>
            <a:endParaRPr lang="en-GB" sz="2400" b="1" dirty="0">
              <a:solidFill>
                <a:schemeClr val="accent3"/>
              </a:solidFill>
              <a:latin typeface="Aptos" panose="020B0004020202020204" pitchFamily="34" charset="0"/>
            </a:endParaRPr>
          </a:p>
          <a:p>
            <a:endParaRPr lang="en-GB" sz="2400" dirty="0">
              <a:latin typeface="Aptos" panose="020B0004020202020204" pitchFamily="34" charset="0"/>
            </a:endParaRPr>
          </a:p>
          <a:p>
            <a:r>
              <a:rPr lang="en-GB" sz="2400" dirty="0">
                <a:latin typeface="Aptos" panose="020B0004020202020204" pitchFamily="34" charset="0"/>
              </a:rPr>
              <a:t>For this project, </a:t>
            </a:r>
            <a:r>
              <a:rPr lang="en-GB" sz="2400" dirty="0">
                <a:solidFill>
                  <a:srgbClr val="FFC000"/>
                </a:solidFill>
                <a:latin typeface="Aptos" panose="020B0004020202020204" pitchFamily="34" charset="0"/>
              </a:rPr>
              <a:t>FY 2021 </a:t>
            </a:r>
            <a:r>
              <a:rPr lang="en-GB" sz="2400" dirty="0">
                <a:latin typeface="Aptos" panose="020B0004020202020204" pitchFamily="34" charset="0"/>
              </a:rPr>
              <a:t>follows the company’s fiscal calendar, starting in </a:t>
            </a:r>
            <a:r>
              <a:rPr lang="en-GB" sz="2400" dirty="0">
                <a:solidFill>
                  <a:srgbClr val="FFC000"/>
                </a:solidFill>
                <a:latin typeface="Aptos" panose="020B0004020202020204" pitchFamily="34" charset="0"/>
              </a:rPr>
              <a:t>September 2020 </a:t>
            </a:r>
            <a:r>
              <a:rPr lang="en-GB" sz="2400" dirty="0">
                <a:latin typeface="Aptos" panose="020B0004020202020204" pitchFamily="34" charset="0"/>
              </a:rPr>
              <a:t>and ending in </a:t>
            </a:r>
            <a:r>
              <a:rPr lang="en-GB" sz="2400" dirty="0">
                <a:solidFill>
                  <a:srgbClr val="FFC000"/>
                </a:solidFill>
                <a:latin typeface="Aptos" panose="020B0004020202020204" pitchFamily="34" charset="0"/>
              </a:rPr>
              <a:t>August 2021</a:t>
            </a:r>
          </a:p>
          <a:p>
            <a:endParaRPr lang="en-GB" dirty="0">
              <a:solidFill>
                <a:srgbClr val="FFC000"/>
              </a:solidFill>
              <a:latin typeface="Aptos" panose="020B0004020202020204" pitchFamily="34" charset="0"/>
            </a:endParaRPr>
          </a:p>
          <a:p>
            <a:pPr>
              <a:buNone/>
            </a:pPr>
            <a:r>
              <a:rPr lang="en-GB" sz="2400" b="1" dirty="0">
                <a:solidFill>
                  <a:schemeClr val="accent3"/>
                </a:solidFill>
                <a:latin typeface="Aptos" panose="020B0004020202020204" pitchFamily="34" charset="0"/>
              </a:rPr>
              <a:t>FY 2021 Quarters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C000"/>
                </a:solidFill>
                <a:latin typeface="Aptos" panose="020B0004020202020204" pitchFamily="34" charset="0"/>
              </a:rPr>
              <a:t>Q1</a:t>
            </a:r>
            <a:r>
              <a:rPr lang="en-GB" sz="2400" b="1" dirty="0">
                <a:latin typeface="Aptos" panose="020B0004020202020204" pitchFamily="34" charset="0"/>
              </a:rPr>
              <a:t>:</a:t>
            </a:r>
            <a:r>
              <a:rPr lang="en-GB" sz="2400" dirty="0">
                <a:latin typeface="Aptos" panose="020B0004020202020204" pitchFamily="34" charset="0"/>
              </a:rPr>
              <a:t> September 2020 – November 2020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C000"/>
                </a:solidFill>
                <a:latin typeface="Aptos" panose="020B0004020202020204" pitchFamily="34" charset="0"/>
              </a:rPr>
              <a:t>Q2</a:t>
            </a:r>
            <a:r>
              <a:rPr lang="en-GB" sz="2400" b="1" dirty="0">
                <a:latin typeface="Aptos" panose="020B0004020202020204" pitchFamily="34" charset="0"/>
              </a:rPr>
              <a:t>:</a:t>
            </a:r>
            <a:r>
              <a:rPr lang="en-GB" sz="2400" dirty="0">
                <a:latin typeface="Aptos" panose="020B0004020202020204" pitchFamily="34" charset="0"/>
              </a:rPr>
              <a:t> December 2020 – February 2021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C000"/>
                </a:solidFill>
                <a:latin typeface="Aptos" panose="020B0004020202020204" pitchFamily="34" charset="0"/>
              </a:rPr>
              <a:t>Q3</a:t>
            </a:r>
            <a:r>
              <a:rPr lang="en-GB" sz="2400" b="1" dirty="0">
                <a:latin typeface="Aptos" panose="020B0004020202020204" pitchFamily="34" charset="0"/>
              </a:rPr>
              <a:t>:</a:t>
            </a:r>
            <a:r>
              <a:rPr lang="en-GB" sz="2400" dirty="0">
                <a:latin typeface="Aptos" panose="020B0004020202020204" pitchFamily="34" charset="0"/>
              </a:rPr>
              <a:t> March 2021 – May 2021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FFC000"/>
                </a:solidFill>
                <a:latin typeface="Aptos" panose="020B0004020202020204" pitchFamily="34" charset="0"/>
              </a:rPr>
              <a:t>Q4</a:t>
            </a:r>
            <a:r>
              <a:rPr lang="en-GB" sz="2400" b="1" dirty="0">
                <a:latin typeface="Aptos" panose="020B0004020202020204" pitchFamily="34" charset="0"/>
              </a:rPr>
              <a:t>:</a:t>
            </a:r>
            <a:r>
              <a:rPr lang="en-GB" sz="2400" dirty="0">
                <a:latin typeface="Aptos" panose="020B0004020202020204" pitchFamily="34" charset="0"/>
              </a:rPr>
              <a:t> June 2021 – August 2021</a:t>
            </a:r>
          </a:p>
          <a:p>
            <a:endParaRPr lang="en-IN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06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72559-D956-700A-2A16-DA4F1BB13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w: Right 4">
            <a:extLst>
              <a:ext uri="{FF2B5EF4-FFF2-40B4-BE49-F238E27FC236}">
                <a16:creationId xmlns:a16="http://schemas.microsoft.com/office/drawing/2014/main" id="{8F28DE76-7A35-C7EA-960B-0E258EDCED8A}"/>
              </a:ext>
            </a:extLst>
          </p:cNvPr>
          <p:cNvSpPr/>
          <p:nvPr/>
        </p:nvSpPr>
        <p:spPr>
          <a:xfrm>
            <a:off x="5414472" y="2586223"/>
            <a:ext cx="572680" cy="2556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321FD9-B1AA-BB44-AC5B-D9ED34C7F230}"/>
              </a:ext>
            </a:extLst>
          </p:cNvPr>
          <p:cNvSpPr txBox="1"/>
          <p:nvPr/>
        </p:nvSpPr>
        <p:spPr>
          <a:xfrm>
            <a:off x="587678" y="4725076"/>
            <a:ext cx="1550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Insights</a:t>
            </a:r>
            <a:endParaRPr lang="en-IN" sz="24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612672-1470-DF46-C436-92E48426FE2D}"/>
              </a:ext>
            </a:extLst>
          </p:cNvPr>
          <p:cNvSpPr txBox="1"/>
          <p:nvPr/>
        </p:nvSpPr>
        <p:spPr>
          <a:xfrm>
            <a:off x="666336" y="5372722"/>
            <a:ext cx="108201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latin typeface="Aptos" panose="020B0004020202020204" pitchFamily="34" charset="0"/>
              </a:rPr>
              <a:t>All top 5 customers received </a:t>
            </a: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~31% </a:t>
            </a:r>
            <a:r>
              <a:rPr lang="en-GB" sz="1600" dirty="0">
                <a:latin typeface="Aptos" panose="020B0004020202020204" pitchFamily="34" charset="0"/>
              </a:rPr>
              <a:t>average discount, showing </a:t>
            </a:r>
            <a:r>
              <a:rPr lang="en-GB" sz="1600" dirty="0" err="1">
                <a:solidFill>
                  <a:srgbClr val="FFC000"/>
                </a:solidFill>
                <a:latin typeface="Aptos" panose="020B0004020202020204" pitchFamily="34" charset="0"/>
              </a:rPr>
              <a:t>AtliQ</a:t>
            </a:r>
            <a:r>
              <a:rPr lang="en-GB" sz="1600" dirty="0">
                <a:latin typeface="Aptos" panose="020B0004020202020204" pitchFamily="34" charset="0"/>
              </a:rPr>
              <a:t> followed a consistent discounting approach for its major Indian clients in Fiscal Year 2021.</a:t>
            </a:r>
            <a:endParaRPr lang="en-IN" sz="1600" dirty="0">
              <a:latin typeface="Aptos" panose="020B00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50060F-DA8C-21EA-CE63-CCB0D9291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92" y="1927766"/>
            <a:ext cx="4928967" cy="15725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5EC4849-57C0-86F8-CF1A-4131EFAC7E84}"/>
              </a:ext>
            </a:extLst>
          </p:cNvPr>
          <p:cNvSpPr txBox="1">
            <a:spLocks/>
          </p:cNvSpPr>
          <p:nvPr/>
        </p:nvSpPr>
        <p:spPr>
          <a:xfrm>
            <a:off x="800296" y="263737"/>
            <a:ext cx="10515600" cy="519778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600" b="0" kern="12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Conversion  of   Output  To  Visual</a:t>
            </a:r>
            <a:endParaRPr lang="en-IN" sz="2800" b="1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FAECBB-F6F7-0A15-0DAC-CD9724FA8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459" y="1421085"/>
            <a:ext cx="5695349" cy="28415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DBB2C5-4907-6370-4CA8-6E6FA06109E8}"/>
              </a:ext>
            </a:extLst>
          </p:cNvPr>
          <p:cNvSpPr txBox="1"/>
          <p:nvPr/>
        </p:nvSpPr>
        <p:spPr>
          <a:xfrm>
            <a:off x="305578" y="1124808"/>
            <a:ext cx="1597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Output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64329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FC4B4-D93E-B0F9-A1E5-A1809BA2F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BD254-30F2-4A81-48C5-54739A01C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151"/>
            <a:ext cx="10515600" cy="637765"/>
          </a:xfrm>
        </p:spPr>
        <p:txBody>
          <a:bodyPr>
            <a:normAutofit/>
          </a:bodyPr>
          <a:lstStyle/>
          <a:p>
            <a:pPr algn="ctr"/>
            <a:r>
              <a:rPr lang="en-IN" sz="2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+mn-lt"/>
              </a:rPr>
              <a:t>Monthly Gross Sales of </a:t>
            </a:r>
            <a:r>
              <a:rPr lang="en-IN" sz="2600" b="1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+mn-lt"/>
              </a:rPr>
              <a:t>Atliq</a:t>
            </a:r>
            <a:r>
              <a:rPr lang="en-IN" sz="2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+mn-lt"/>
              </a:rPr>
              <a:t> Exclusive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89C43-DA03-893F-5E2C-F2BCBEBD3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6916"/>
            <a:ext cx="10515600" cy="5174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Question. 7</a:t>
            </a:r>
            <a:endParaRPr lang="en-GB" dirty="0"/>
          </a:p>
          <a:p>
            <a:pPr marL="0" indent="0">
              <a:buNone/>
            </a:pPr>
            <a:r>
              <a:rPr lang="en-GB" sz="2000" dirty="0"/>
              <a:t>Get the complete report of the Gross sales amount for the customer “</a:t>
            </a:r>
            <a:r>
              <a:rPr lang="en-GB" sz="2000" dirty="0" err="1"/>
              <a:t>Atliq</a:t>
            </a:r>
            <a:r>
              <a:rPr lang="en-GB" sz="2000" dirty="0"/>
              <a:t> Exclusive” for each month . This analysis helps to get an idea of low and high-performing months and take strategic decisions. The final report contains these columns: Month Year Gross sales Amount 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Output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12BC73-7472-0BA3-117E-C57C24217C63}"/>
              </a:ext>
            </a:extLst>
          </p:cNvPr>
          <p:cNvSpPr txBox="1"/>
          <p:nvPr/>
        </p:nvSpPr>
        <p:spPr>
          <a:xfrm>
            <a:off x="2687216" y="2547257"/>
            <a:ext cx="698862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3"/>
                </a:solidFill>
              </a:rPr>
              <a:t>Select</a:t>
            </a:r>
          </a:p>
          <a:p>
            <a:r>
              <a:rPr lang="en-IN" sz="1600" dirty="0"/>
              <a:t>    </a:t>
            </a:r>
            <a:r>
              <a:rPr lang="en-IN" sz="1600" dirty="0" err="1">
                <a:solidFill>
                  <a:schemeClr val="accent3"/>
                </a:solidFill>
              </a:rPr>
              <a:t>monthname</a:t>
            </a:r>
            <a:r>
              <a:rPr lang="en-IN" sz="1600" dirty="0"/>
              <a:t>(</a:t>
            </a:r>
            <a:r>
              <a:rPr lang="en-IN" sz="1600" dirty="0" err="1"/>
              <a:t>s.date</a:t>
            </a:r>
            <a:r>
              <a:rPr lang="en-IN" sz="1600" dirty="0"/>
              <a:t>) as month,</a:t>
            </a:r>
          </a:p>
          <a:p>
            <a:r>
              <a:rPr lang="en-IN" sz="1600" dirty="0"/>
              <a:t>     </a:t>
            </a:r>
            <a:r>
              <a:rPr lang="en-IN" sz="1600" dirty="0" err="1"/>
              <a:t>s.fiscal_year</a:t>
            </a:r>
            <a:r>
              <a:rPr lang="en-IN" sz="1600" dirty="0"/>
              <a:t> as year,</a:t>
            </a:r>
          </a:p>
          <a:p>
            <a:r>
              <a:rPr lang="en-IN" sz="1600" dirty="0"/>
              <a:t>     sum(</a:t>
            </a:r>
            <a:r>
              <a:rPr lang="en-IN" sz="1600" dirty="0" err="1"/>
              <a:t>sold_quantity</a:t>
            </a:r>
            <a:r>
              <a:rPr lang="en-IN" sz="1600" dirty="0"/>
              <a:t>*</a:t>
            </a:r>
            <a:r>
              <a:rPr lang="en-IN" sz="1600" dirty="0" err="1"/>
              <a:t>gross_price</a:t>
            </a:r>
            <a:r>
              <a:rPr lang="en-IN" sz="1600" dirty="0"/>
              <a:t>) </a:t>
            </a:r>
            <a:r>
              <a:rPr lang="en-IN" sz="1600" dirty="0">
                <a:solidFill>
                  <a:schemeClr val="accent3"/>
                </a:solidFill>
              </a:rPr>
              <a:t>as</a:t>
            </a:r>
            <a:r>
              <a:rPr lang="en-IN" sz="1600" dirty="0"/>
              <a:t> </a:t>
            </a:r>
            <a:r>
              <a:rPr lang="en-IN" sz="1600" dirty="0" err="1"/>
              <a:t>gross_sales</a:t>
            </a:r>
            <a:endParaRPr lang="en-IN" sz="1600" dirty="0"/>
          </a:p>
          <a:p>
            <a:r>
              <a:rPr lang="en-IN" sz="1600" dirty="0">
                <a:solidFill>
                  <a:schemeClr val="accent3"/>
                </a:solidFill>
              </a:rPr>
              <a:t>from</a:t>
            </a:r>
            <a:r>
              <a:rPr lang="en-IN" sz="1600" dirty="0"/>
              <a:t> </a:t>
            </a:r>
            <a:r>
              <a:rPr lang="en-IN" sz="1600" dirty="0" err="1"/>
              <a:t>fact_sales_monthly</a:t>
            </a:r>
            <a:r>
              <a:rPr lang="en-IN" sz="1600" dirty="0"/>
              <a:t> s</a:t>
            </a:r>
          </a:p>
          <a:p>
            <a:r>
              <a:rPr lang="en-IN" sz="1600" dirty="0">
                <a:solidFill>
                  <a:schemeClr val="accent3"/>
                </a:solidFill>
              </a:rPr>
              <a:t>join</a:t>
            </a:r>
            <a:r>
              <a:rPr lang="en-IN" sz="1600" dirty="0"/>
              <a:t> </a:t>
            </a:r>
            <a:r>
              <a:rPr lang="en-IN" sz="1600" dirty="0" err="1"/>
              <a:t>fact_gross_price</a:t>
            </a:r>
            <a:r>
              <a:rPr lang="en-IN" sz="1600" dirty="0"/>
              <a:t> g	</a:t>
            </a:r>
          </a:p>
          <a:p>
            <a:r>
              <a:rPr lang="en-IN" sz="1600" dirty="0">
                <a:solidFill>
                  <a:schemeClr val="accent3"/>
                </a:solidFill>
              </a:rPr>
              <a:t>on</a:t>
            </a:r>
            <a:r>
              <a:rPr lang="en-IN" sz="1600" dirty="0"/>
              <a:t> </a:t>
            </a:r>
            <a:r>
              <a:rPr lang="en-IN" sz="1600" dirty="0" err="1"/>
              <a:t>s.product_code</a:t>
            </a:r>
            <a:r>
              <a:rPr lang="en-IN" sz="1600" dirty="0"/>
              <a:t>= </a:t>
            </a:r>
            <a:r>
              <a:rPr lang="en-IN" sz="1600" dirty="0" err="1"/>
              <a:t>g.product_code</a:t>
            </a:r>
            <a:endParaRPr lang="en-IN" sz="1600" dirty="0"/>
          </a:p>
          <a:p>
            <a:r>
              <a:rPr lang="en-IN" sz="1600" dirty="0">
                <a:solidFill>
                  <a:schemeClr val="accent3"/>
                </a:solidFill>
              </a:rPr>
              <a:t>join</a:t>
            </a:r>
            <a:r>
              <a:rPr lang="en-IN" sz="1600" dirty="0"/>
              <a:t> </a:t>
            </a:r>
            <a:r>
              <a:rPr lang="en-IN" sz="1600" dirty="0" err="1"/>
              <a:t>dim_customer</a:t>
            </a:r>
            <a:r>
              <a:rPr lang="en-IN" sz="1600" dirty="0"/>
              <a:t> c    </a:t>
            </a:r>
          </a:p>
          <a:p>
            <a:r>
              <a:rPr lang="en-IN" sz="1600" dirty="0">
                <a:solidFill>
                  <a:schemeClr val="accent3"/>
                </a:solidFill>
              </a:rPr>
              <a:t>on</a:t>
            </a:r>
            <a:r>
              <a:rPr lang="en-IN" sz="1600" dirty="0"/>
              <a:t> </a:t>
            </a:r>
            <a:r>
              <a:rPr lang="en-IN" sz="1600" dirty="0" err="1"/>
              <a:t>s.customer_code</a:t>
            </a:r>
            <a:r>
              <a:rPr lang="en-IN" sz="1600" dirty="0"/>
              <a:t> = </a:t>
            </a:r>
            <a:r>
              <a:rPr lang="en-IN" sz="1600" dirty="0" err="1"/>
              <a:t>c.customer_code</a:t>
            </a:r>
            <a:endParaRPr lang="en-IN" sz="1600" dirty="0"/>
          </a:p>
          <a:p>
            <a:r>
              <a:rPr lang="en-IN" sz="1600" dirty="0">
                <a:solidFill>
                  <a:schemeClr val="accent3"/>
                </a:solidFill>
              </a:rPr>
              <a:t>where</a:t>
            </a:r>
            <a:r>
              <a:rPr lang="en-IN" sz="1600" dirty="0"/>
              <a:t> customer = "</a:t>
            </a:r>
            <a:r>
              <a:rPr lang="en-IN" sz="1600" dirty="0" err="1"/>
              <a:t>AtliQ</a:t>
            </a:r>
            <a:r>
              <a:rPr lang="en-IN" sz="1600" dirty="0"/>
              <a:t> Exclusive“</a:t>
            </a:r>
          </a:p>
          <a:p>
            <a:r>
              <a:rPr lang="en-IN" sz="1600" dirty="0">
                <a:solidFill>
                  <a:schemeClr val="accent3"/>
                </a:solidFill>
              </a:rPr>
              <a:t>group by </a:t>
            </a:r>
            <a:r>
              <a:rPr lang="en-IN" sz="1600" dirty="0" err="1"/>
              <a:t>month,year</a:t>
            </a:r>
            <a:endParaRPr lang="en-IN" sz="1600" dirty="0"/>
          </a:p>
          <a:p>
            <a:r>
              <a:rPr lang="en-IN" sz="1600" dirty="0">
                <a:solidFill>
                  <a:schemeClr val="accent3"/>
                </a:solidFill>
              </a:rPr>
              <a:t>order by </a:t>
            </a:r>
            <a:r>
              <a:rPr lang="en-IN" sz="1600" dirty="0"/>
              <a:t>year </a:t>
            </a:r>
            <a:r>
              <a:rPr lang="en-IN" sz="1600" dirty="0" err="1"/>
              <a:t>asc</a:t>
            </a:r>
            <a:endParaRPr lang="en-IN" sz="1600" dirty="0"/>
          </a:p>
          <a:p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35024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2F6D5-59FD-2F61-E175-039AFACD1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321D0-ACCB-A989-3A49-08A1ADCFA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678" y="226333"/>
            <a:ext cx="10782300" cy="441910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1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Conversion  of Output to visual</a:t>
            </a:r>
            <a:br>
              <a:rPr lang="en-IN" sz="2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+mn-lt"/>
              </a:rPr>
            </a:br>
            <a:endParaRPr lang="en-IN" sz="2800" b="1" dirty="0">
              <a:latin typeface="+mn-lt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E048E32-78B4-FAF0-7E25-5E3594F86A99}"/>
              </a:ext>
            </a:extLst>
          </p:cNvPr>
          <p:cNvSpPr/>
          <p:nvPr/>
        </p:nvSpPr>
        <p:spPr>
          <a:xfrm>
            <a:off x="3090965" y="2404699"/>
            <a:ext cx="572680" cy="2556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31A78E-333F-E34A-255C-2A72C5232559}"/>
              </a:ext>
            </a:extLst>
          </p:cNvPr>
          <p:cNvSpPr txBox="1"/>
          <p:nvPr/>
        </p:nvSpPr>
        <p:spPr>
          <a:xfrm>
            <a:off x="587678" y="5206856"/>
            <a:ext cx="1550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Insights</a:t>
            </a:r>
            <a:endParaRPr lang="en-IN" sz="24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70952C-38B0-1E03-F26C-3B23C682A2E7}"/>
              </a:ext>
            </a:extLst>
          </p:cNvPr>
          <p:cNvSpPr txBox="1"/>
          <p:nvPr/>
        </p:nvSpPr>
        <p:spPr>
          <a:xfrm>
            <a:off x="587678" y="5750040"/>
            <a:ext cx="108201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latin typeface="Aptos" panose="020B0004020202020204" pitchFamily="34" charset="0"/>
              </a:rPr>
              <a:t>Gross sales for </a:t>
            </a:r>
            <a:r>
              <a:rPr lang="en-GB" sz="1600" dirty="0" err="1">
                <a:solidFill>
                  <a:srgbClr val="FFC000"/>
                </a:solidFill>
                <a:latin typeface="Aptos" panose="020B0004020202020204" pitchFamily="34" charset="0"/>
              </a:rPr>
              <a:t>Atliq</a:t>
            </a: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 Exclusive </a:t>
            </a:r>
            <a:r>
              <a:rPr lang="en-GB" sz="1600" dirty="0">
                <a:latin typeface="Aptos" panose="020B0004020202020204" pitchFamily="34" charset="0"/>
              </a:rPr>
              <a:t>were significantly </a:t>
            </a: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higher</a:t>
            </a:r>
            <a:r>
              <a:rPr lang="en-GB" sz="1600" dirty="0">
                <a:latin typeface="Aptos" panose="020B0004020202020204" pitchFamily="34" charset="0"/>
              </a:rPr>
              <a:t> in both </a:t>
            </a: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2020</a:t>
            </a:r>
            <a:r>
              <a:rPr lang="en-GB" sz="1600" dirty="0">
                <a:latin typeface="Aptos" panose="020B0004020202020204" pitchFamily="34" charset="0"/>
              </a:rPr>
              <a:t> and </a:t>
            </a: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2021</a:t>
            </a:r>
            <a:r>
              <a:rPr lang="en-GB" sz="1600" dirty="0">
                <a:latin typeface="Aptos" panose="020B0004020202020204" pitchFamily="34" charset="0"/>
              </a:rPr>
              <a:t> during the month of </a:t>
            </a: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November</a:t>
            </a:r>
            <a:r>
              <a:rPr lang="en-GB" sz="1600" dirty="0">
                <a:latin typeface="Aptos" panose="020B0004020202020204" pitchFamily="34" charset="0"/>
              </a:rPr>
              <a:t>, while the </a:t>
            </a: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lowest</a:t>
            </a:r>
            <a:r>
              <a:rPr lang="en-GB" sz="1600" dirty="0">
                <a:latin typeface="Aptos" panose="020B0004020202020204" pitchFamily="34" charset="0"/>
              </a:rPr>
              <a:t> sales were recorded in </a:t>
            </a: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March</a:t>
            </a:r>
            <a:r>
              <a:rPr lang="en-GB" sz="1600" dirty="0">
                <a:latin typeface="Aptos" panose="020B0004020202020204" pitchFamily="34" charset="0"/>
              </a:rPr>
              <a:t> for </a:t>
            </a: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2020</a:t>
            </a:r>
            <a:r>
              <a:rPr lang="en-GB" sz="1600" dirty="0">
                <a:latin typeface="Aptos" panose="020B0004020202020204" pitchFamily="34" charset="0"/>
              </a:rPr>
              <a:t> and in </a:t>
            </a: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August</a:t>
            </a:r>
            <a:r>
              <a:rPr lang="en-GB" sz="1600" dirty="0">
                <a:latin typeface="Aptos" panose="020B0004020202020204" pitchFamily="34" charset="0"/>
              </a:rPr>
              <a:t> for </a:t>
            </a: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2021</a:t>
            </a:r>
            <a:r>
              <a:rPr lang="en-GB" sz="1600" dirty="0">
                <a:latin typeface="Aptos" panose="020B0004020202020204" pitchFamily="34" charset="0"/>
              </a:rPr>
              <a:t>. This shows a strong year-end demand surge that the business can use for better planning and targeted strategies.</a:t>
            </a:r>
            <a:endParaRPr lang="en-IN" sz="1600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D3A195-C336-05CC-AF44-AF01954F8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56" y="966101"/>
            <a:ext cx="2735625" cy="37645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5DE2BE-C1B5-5368-8E38-1A398D68A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364" y="938928"/>
            <a:ext cx="8101780" cy="37916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739F86-F926-155C-CF10-4F19B6DB2DC9}"/>
              </a:ext>
            </a:extLst>
          </p:cNvPr>
          <p:cNvCxnSpPr/>
          <p:nvPr/>
        </p:nvCxnSpPr>
        <p:spPr>
          <a:xfrm>
            <a:off x="6479458" y="2054942"/>
            <a:ext cx="68826" cy="1553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F61FC03-9974-A6D3-554B-A9DA761272E0}"/>
              </a:ext>
            </a:extLst>
          </p:cNvPr>
          <p:cNvSpPr txBox="1"/>
          <p:nvPr/>
        </p:nvSpPr>
        <p:spPr>
          <a:xfrm>
            <a:off x="5845277" y="1618047"/>
            <a:ext cx="14060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rgbClr val="FF0000"/>
                </a:solidFill>
              </a:rPr>
              <a:t>Lowest Gross Sales </a:t>
            </a:r>
            <a:r>
              <a:rPr lang="en-IN" sz="11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0.77 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2E90B9-094C-C5DF-DF93-DDB4FF4F0CE8}"/>
              </a:ext>
            </a:extLst>
          </p:cNvPr>
          <p:cNvSpPr txBox="1"/>
          <p:nvPr/>
        </p:nvSpPr>
        <p:spPr>
          <a:xfrm>
            <a:off x="5788742" y="1107682"/>
            <a:ext cx="1209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FY 2020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22ED94-5122-2C0B-84B6-16345468C816}"/>
              </a:ext>
            </a:extLst>
          </p:cNvPr>
          <p:cNvSpPr txBox="1"/>
          <p:nvPr/>
        </p:nvSpPr>
        <p:spPr>
          <a:xfrm>
            <a:off x="9139083" y="1107682"/>
            <a:ext cx="968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FY 2021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305397-9E43-C280-7C8E-1564151B20CC}"/>
              </a:ext>
            </a:extLst>
          </p:cNvPr>
          <p:cNvCxnSpPr>
            <a:cxnSpLocks/>
          </p:cNvCxnSpPr>
          <p:nvPr/>
        </p:nvCxnSpPr>
        <p:spPr>
          <a:xfrm flipV="1">
            <a:off x="9960077" y="1385438"/>
            <a:ext cx="1047136" cy="232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0877CD7-3645-5C60-3CF3-308C625AC573}"/>
              </a:ext>
            </a:extLst>
          </p:cNvPr>
          <p:cNvSpPr txBox="1"/>
          <p:nvPr/>
        </p:nvSpPr>
        <p:spPr>
          <a:xfrm>
            <a:off x="8318090" y="1511993"/>
            <a:ext cx="19369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dirty="0">
                <a:solidFill>
                  <a:srgbClr val="00B050"/>
                </a:solidFill>
              </a:rPr>
              <a:t>Highest Gross Sales</a:t>
            </a:r>
          </a:p>
          <a:p>
            <a:pPr algn="ctr"/>
            <a:r>
              <a:rPr lang="en-IN" sz="1100" dirty="0">
                <a:solidFill>
                  <a:schemeClr val="bg1"/>
                </a:solidFill>
              </a:rPr>
              <a:t> </a:t>
            </a:r>
            <a:r>
              <a:rPr lang="en-IN" sz="11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32.25 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092C61-CA5C-A467-B042-69D17BE3D66F}"/>
              </a:ext>
            </a:extLst>
          </p:cNvPr>
          <p:cNvSpPr txBox="1"/>
          <p:nvPr/>
        </p:nvSpPr>
        <p:spPr>
          <a:xfrm>
            <a:off x="389553" y="524191"/>
            <a:ext cx="1597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Output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09949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A303C-6CD8-C6A6-DBA0-B4AB48DCB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4BE65-FFBA-C11B-AB9D-8AA135CD0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151"/>
            <a:ext cx="10515600" cy="637765"/>
          </a:xfrm>
        </p:spPr>
        <p:txBody>
          <a:bodyPr>
            <a:normAutofit/>
          </a:bodyPr>
          <a:lstStyle/>
          <a:p>
            <a:pPr algn="ctr"/>
            <a:r>
              <a:rPr lang="en-IN" sz="2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+mn-lt"/>
              </a:rPr>
              <a:t>Total Sold Quantity of Quarter 2020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E03B3-C0BA-0EFE-F721-93B35CCC3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052" y="841963"/>
            <a:ext cx="10515600" cy="5174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Question. 8</a:t>
            </a:r>
            <a:endParaRPr lang="en-GB" sz="2400" dirty="0"/>
          </a:p>
          <a:p>
            <a:pPr marL="0" indent="0">
              <a:buNone/>
            </a:pPr>
            <a:r>
              <a:rPr lang="en-GB" sz="2000" dirty="0">
                <a:latin typeface="Aptos" panose="020B0004020202020204" pitchFamily="34" charset="0"/>
              </a:rPr>
              <a:t>In which quarter of 2020, got the maximum </a:t>
            </a:r>
            <a:r>
              <a:rPr lang="en-GB" sz="2000" dirty="0" err="1">
                <a:latin typeface="Aptos" panose="020B0004020202020204" pitchFamily="34" charset="0"/>
              </a:rPr>
              <a:t>total_sold_quantity</a:t>
            </a:r>
            <a:r>
              <a:rPr lang="en-GB" sz="2000" dirty="0">
                <a:latin typeface="Aptos" panose="020B0004020202020204" pitchFamily="34" charset="0"/>
              </a:rPr>
              <a:t>? The final output contains these fields sorted by the </a:t>
            </a:r>
            <a:r>
              <a:rPr lang="en-GB" sz="2000" dirty="0" err="1">
                <a:latin typeface="Aptos" panose="020B0004020202020204" pitchFamily="34" charset="0"/>
              </a:rPr>
              <a:t>total_sold_quantity</a:t>
            </a:r>
            <a:r>
              <a:rPr lang="en-GB" sz="2000" dirty="0">
                <a:latin typeface="Aptos" panose="020B0004020202020204" pitchFamily="34" charset="0"/>
              </a:rPr>
              <a:t>, Quarter </a:t>
            </a:r>
            <a:r>
              <a:rPr lang="en-GB" sz="2000" dirty="0" err="1">
                <a:latin typeface="Aptos" panose="020B0004020202020204" pitchFamily="34" charset="0"/>
              </a:rPr>
              <a:t>total_sold_quantity</a:t>
            </a:r>
            <a:r>
              <a:rPr lang="en-GB" sz="2000" dirty="0">
                <a:latin typeface="Aptos" panose="020B00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GB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Output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DDD9BE-C0FD-41AD-B3BE-35F0254F8D2C}"/>
              </a:ext>
            </a:extLst>
          </p:cNvPr>
          <p:cNvSpPr txBox="1"/>
          <p:nvPr/>
        </p:nvSpPr>
        <p:spPr>
          <a:xfrm>
            <a:off x="2528596" y="2939143"/>
            <a:ext cx="69419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accent3"/>
                </a:solidFill>
              </a:rPr>
              <a:t>select</a:t>
            </a:r>
            <a:r>
              <a:rPr lang="en-GB" sz="1600" dirty="0"/>
              <a:t> </a:t>
            </a:r>
          </a:p>
          <a:p>
            <a:r>
              <a:rPr lang="en-GB" sz="1600" dirty="0"/>
              <a:t>(</a:t>
            </a:r>
          </a:p>
          <a:p>
            <a:r>
              <a:rPr lang="en-GB" sz="1600" dirty="0"/>
              <a:t>              </a:t>
            </a:r>
            <a:r>
              <a:rPr lang="en-GB" sz="1600" dirty="0">
                <a:solidFill>
                  <a:schemeClr val="accent3"/>
                </a:solidFill>
              </a:rPr>
              <a:t>case</a:t>
            </a:r>
          </a:p>
          <a:p>
            <a:r>
              <a:rPr lang="en-GB" sz="1600" dirty="0"/>
              <a:t>                    </a:t>
            </a:r>
            <a:r>
              <a:rPr lang="en-GB" sz="1600" dirty="0">
                <a:solidFill>
                  <a:schemeClr val="accent3"/>
                </a:solidFill>
              </a:rPr>
              <a:t>when month</a:t>
            </a:r>
            <a:r>
              <a:rPr lang="en-GB" sz="1600" dirty="0"/>
              <a:t>(date)  in (9, 10, 11) </a:t>
            </a:r>
            <a:r>
              <a:rPr lang="en-GB" sz="1600" dirty="0">
                <a:solidFill>
                  <a:schemeClr val="accent3"/>
                </a:solidFill>
              </a:rPr>
              <a:t>then</a:t>
            </a:r>
            <a:r>
              <a:rPr lang="en-GB" sz="1600" dirty="0"/>
              <a:t> "Q1“</a:t>
            </a:r>
          </a:p>
          <a:p>
            <a:r>
              <a:rPr lang="en-GB" sz="1600" dirty="0"/>
              <a:t>                    </a:t>
            </a:r>
            <a:r>
              <a:rPr lang="en-GB" sz="1600" dirty="0">
                <a:solidFill>
                  <a:schemeClr val="accent3"/>
                </a:solidFill>
              </a:rPr>
              <a:t>when month</a:t>
            </a:r>
            <a:r>
              <a:rPr lang="en-GB" sz="1600" dirty="0"/>
              <a:t>(date) in ( 12,1, 2) </a:t>
            </a:r>
            <a:r>
              <a:rPr lang="en-GB" sz="1600" dirty="0">
                <a:solidFill>
                  <a:schemeClr val="accent3"/>
                </a:solidFill>
              </a:rPr>
              <a:t>then</a:t>
            </a:r>
            <a:r>
              <a:rPr lang="en-GB" sz="1600" dirty="0"/>
              <a:t> "Q2“</a:t>
            </a:r>
          </a:p>
          <a:p>
            <a:r>
              <a:rPr lang="en-GB" sz="1600" dirty="0"/>
              <a:t>                    </a:t>
            </a:r>
            <a:r>
              <a:rPr lang="en-GB" sz="1600" dirty="0">
                <a:solidFill>
                  <a:schemeClr val="accent3"/>
                </a:solidFill>
              </a:rPr>
              <a:t>when month</a:t>
            </a:r>
            <a:r>
              <a:rPr lang="en-GB" sz="1600" dirty="0"/>
              <a:t>(date) in ( 3, 4, 5) </a:t>
            </a:r>
            <a:r>
              <a:rPr lang="en-GB" sz="1600" dirty="0">
                <a:solidFill>
                  <a:schemeClr val="accent3"/>
                </a:solidFill>
              </a:rPr>
              <a:t>then</a:t>
            </a:r>
            <a:r>
              <a:rPr lang="en-GB" sz="1600" dirty="0"/>
              <a:t> "Q3“</a:t>
            </a:r>
          </a:p>
          <a:p>
            <a:r>
              <a:rPr lang="en-GB" sz="1600" dirty="0"/>
              <a:t>                    </a:t>
            </a:r>
            <a:r>
              <a:rPr lang="en-GB" sz="1600" dirty="0">
                <a:solidFill>
                  <a:schemeClr val="accent3"/>
                </a:solidFill>
              </a:rPr>
              <a:t>when month </a:t>
            </a:r>
            <a:r>
              <a:rPr lang="en-GB" sz="1600" dirty="0"/>
              <a:t>(date) in (6,7,8) </a:t>
            </a:r>
            <a:r>
              <a:rPr lang="en-GB" sz="1600" dirty="0">
                <a:solidFill>
                  <a:schemeClr val="accent3"/>
                </a:solidFill>
              </a:rPr>
              <a:t>then</a:t>
            </a:r>
            <a:r>
              <a:rPr lang="en-GB" sz="1600" dirty="0"/>
              <a:t> "Q4“</a:t>
            </a:r>
          </a:p>
          <a:p>
            <a:r>
              <a:rPr lang="en-GB" sz="1600" dirty="0"/>
              <a:t>                    end) as Quarter,</a:t>
            </a:r>
          </a:p>
          <a:p>
            <a:r>
              <a:rPr lang="en-GB" sz="1600" dirty="0"/>
              <a:t>             </a:t>
            </a:r>
            <a:r>
              <a:rPr lang="en-GB" sz="1600" dirty="0">
                <a:solidFill>
                  <a:schemeClr val="accent3"/>
                </a:solidFill>
              </a:rPr>
              <a:t>sum</a:t>
            </a:r>
            <a:r>
              <a:rPr lang="en-GB" sz="1600" dirty="0"/>
              <a:t>(</a:t>
            </a:r>
            <a:r>
              <a:rPr lang="en-GB" sz="1600" dirty="0" err="1"/>
              <a:t>sold_quantity</a:t>
            </a:r>
            <a:r>
              <a:rPr lang="en-GB" sz="1600" dirty="0"/>
              <a:t>) </a:t>
            </a:r>
            <a:r>
              <a:rPr lang="en-GB" sz="1600" dirty="0">
                <a:solidFill>
                  <a:schemeClr val="accent3"/>
                </a:solidFill>
              </a:rPr>
              <a:t>as</a:t>
            </a:r>
            <a:r>
              <a:rPr lang="en-GB" sz="1600" dirty="0"/>
              <a:t> </a:t>
            </a:r>
            <a:r>
              <a:rPr lang="en-GB" sz="1600" dirty="0" err="1"/>
              <a:t>total_sold_qty</a:t>
            </a:r>
            <a:endParaRPr lang="en-GB" sz="1600" dirty="0"/>
          </a:p>
          <a:p>
            <a:r>
              <a:rPr lang="en-GB" sz="1600" dirty="0"/>
              <a:t>         </a:t>
            </a:r>
            <a:r>
              <a:rPr lang="en-GB" sz="1600" dirty="0">
                <a:solidFill>
                  <a:schemeClr val="accent3"/>
                </a:solidFill>
              </a:rPr>
              <a:t>from</a:t>
            </a:r>
            <a:r>
              <a:rPr lang="en-GB" sz="1600" dirty="0"/>
              <a:t> </a:t>
            </a:r>
            <a:r>
              <a:rPr lang="en-GB" sz="1600" dirty="0" err="1"/>
              <a:t>fact_sales_monthly</a:t>
            </a:r>
            <a:r>
              <a:rPr lang="en-GB" sz="1600" dirty="0"/>
              <a:t> </a:t>
            </a:r>
          </a:p>
          <a:p>
            <a:r>
              <a:rPr lang="en-GB" sz="1600" dirty="0"/>
              <a:t>        </a:t>
            </a:r>
            <a:r>
              <a:rPr lang="en-GB" sz="1600" dirty="0">
                <a:solidFill>
                  <a:schemeClr val="accent3"/>
                </a:solidFill>
              </a:rPr>
              <a:t>where</a:t>
            </a:r>
            <a:r>
              <a:rPr lang="en-GB" sz="1600" dirty="0"/>
              <a:t> </a:t>
            </a:r>
            <a:r>
              <a:rPr lang="en-GB" sz="1600" dirty="0" err="1"/>
              <a:t>fiscal_year</a:t>
            </a:r>
            <a:r>
              <a:rPr lang="en-GB" sz="1600" dirty="0"/>
              <a:t> = 2020</a:t>
            </a:r>
          </a:p>
          <a:p>
            <a:r>
              <a:rPr lang="en-GB" sz="1600" dirty="0"/>
              <a:t>        </a:t>
            </a:r>
            <a:r>
              <a:rPr lang="en-GB" sz="1600" dirty="0">
                <a:solidFill>
                  <a:schemeClr val="accent3"/>
                </a:solidFill>
              </a:rPr>
              <a:t>group by </a:t>
            </a:r>
            <a:r>
              <a:rPr lang="en-GB" sz="1600" dirty="0"/>
              <a:t>Quarter</a:t>
            </a:r>
          </a:p>
          <a:p>
            <a:r>
              <a:rPr lang="en-GB" sz="1600" dirty="0"/>
              <a:t>        </a:t>
            </a:r>
            <a:r>
              <a:rPr lang="en-GB" sz="1600" dirty="0">
                <a:solidFill>
                  <a:schemeClr val="accent3"/>
                </a:solidFill>
              </a:rPr>
              <a:t>order by </a:t>
            </a:r>
            <a:r>
              <a:rPr lang="en-GB" sz="1600" dirty="0" err="1"/>
              <a:t>total_sold_qty</a:t>
            </a:r>
            <a:r>
              <a:rPr lang="en-GB" sz="1600" dirty="0"/>
              <a:t> </a:t>
            </a:r>
            <a:r>
              <a:rPr lang="en-GB" sz="1600" dirty="0" err="1">
                <a:solidFill>
                  <a:schemeClr val="accent3"/>
                </a:solidFill>
              </a:rPr>
              <a:t>desc</a:t>
            </a:r>
            <a:endParaRPr lang="en-GB" sz="1600" dirty="0">
              <a:solidFill>
                <a:schemeClr val="accent3"/>
              </a:solidFill>
            </a:endParaRPr>
          </a:p>
          <a:p>
            <a:r>
              <a:rPr lang="en-GB" sz="1600" dirty="0"/>
              <a:t>         ;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031864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2FF7C-E478-401D-3AA3-F3D0A057D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w: Right 4">
            <a:extLst>
              <a:ext uri="{FF2B5EF4-FFF2-40B4-BE49-F238E27FC236}">
                <a16:creationId xmlns:a16="http://schemas.microsoft.com/office/drawing/2014/main" id="{73C96F21-300E-DC77-90AF-DF4BAED5816A}"/>
              </a:ext>
            </a:extLst>
          </p:cNvPr>
          <p:cNvSpPr/>
          <p:nvPr/>
        </p:nvSpPr>
        <p:spPr>
          <a:xfrm>
            <a:off x="4198374" y="2544678"/>
            <a:ext cx="745214" cy="237851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A5692C-78A4-048F-0DFB-5C5F25CF7A1F}"/>
              </a:ext>
            </a:extLst>
          </p:cNvPr>
          <p:cNvSpPr txBox="1"/>
          <p:nvPr/>
        </p:nvSpPr>
        <p:spPr>
          <a:xfrm>
            <a:off x="587678" y="4860839"/>
            <a:ext cx="1550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Insights</a:t>
            </a:r>
            <a:endParaRPr lang="en-IN" sz="24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FF043F-ECE5-F6C2-9BEA-A296FFE52A28}"/>
              </a:ext>
            </a:extLst>
          </p:cNvPr>
          <p:cNvSpPr txBox="1"/>
          <p:nvPr/>
        </p:nvSpPr>
        <p:spPr>
          <a:xfrm>
            <a:off x="549783" y="5592008"/>
            <a:ext cx="10934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Q1</a:t>
            </a:r>
            <a:r>
              <a:rPr lang="en-GB" sz="1600" dirty="0">
                <a:latin typeface="Aptos" panose="020B0004020202020204" pitchFamily="34" charset="0"/>
              </a:rPr>
              <a:t> recorded the highest total sold quantity at </a:t>
            </a: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7M</a:t>
            </a:r>
            <a:r>
              <a:rPr lang="en-GB" sz="1600" dirty="0">
                <a:latin typeface="Aptos" panose="020B0004020202020204" pitchFamily="34" charset="0"/>
              </a:rPr>
              <a:t> units, reflecting strong demand in the early fiscal period. In contrast, </a:t>
            </a: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Q3</a:t>
            </a:r>
            <a:r>
              <a:rPr lang="en-GB" sz="1600" dirty="0">
                <a:latin typeface="Aptos" panose="020B0004020202020204" pitchFamily="34" charset="0"/>
              </a:rPr>
              <a:t> posted the lowest volume at </a:t>
            </a: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2.1M</a:t>
            </a:r>
            <a:r>
              <a:rPr lang="en-GB" sz="1600" dirty="0">
                <a:latin typeface="Aptos" panose="020B0004020202020204" pitchFamily="34" charset="0"/>
              </a:rPr>
              <a:t> units, indicating a considerable slowdown in market activity.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latin typeface="Aptos" panose="020B0004020202020204" pitchFamily="34" charset="0"/>
              </a:rPr>
              <a:t>The drop in Q3 suggests a need to understand </a:t>
            </a: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customer needs </a:t>
            </a:r>
            <a:r>
              <a:rPr lang="en-GB" sz="1600" dirty="0">
                <a:latin typeface="Aptos" panose="020B0004020202020204" pitchFamily="34" charset="0"/>
              </a:rPr>
              <a:t>better during that time.</a:t>
            </a:r>
            <a:endParaRPr lang="en-IN" sz="1600" dirty="0"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7C986C-0F90-226F-AF68-BCE978BC5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300" y="1518734"/>
            <a:ext cx="3412673" cy="24267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2EA9DAB-6FBF-F2C3-4C4D-632E97F2A16C}"/>
              </a:ext>
            </a:extLst>
          </p:cNvPr>
          <p:cNvSpPr txBox="1">
            <a:spLocks/>
          </p:cNvSpPr>
          <p:nvPr/>
        </p:nvSpPr>
        <p:spPr>
          <a:xfrm>
            <a:off x="800296" y="263737"/>
            <a:ext cx="10515600" cy="519778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600" b="0" kern="12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Conversion  of   Output  To  Visual</a:t>
            </a:r>
            <a:endParaRPr lang="en-IN" sz="2800" b="1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1AE020-FEF5-D63C-640E-3AEDB0D3F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892" y="1356322"/>
            <a:ext cx="5763429" cy="31817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9E00CE-FBCA-26DC-0528-1FAAE44E170F}"/>
              </a:ext>
            </a:extLst>
          </p:cNvPr>
          <p:cNvSpPr txBox="1"/>
          <p:nvPr/>
        </p:nvSpPr>
        <p:spPr>
          <a:xfrm>
            <a:off x="526300" y="691485"/>
            <a:ext cx="15978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Output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54533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AB719-C193-F87B-2DAB-9DF1CCEB0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9E72F-0E1A-5F4D-B7DF-C2D9379D3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151"/>
            <a:ext cx="10515600" cy="637765"/>
          </a:xfrm>
        </p:spPr>
        <p:txBody>
          <a:bodyPr>
            <a:normAutofit/>
          </a:bodyPr>
          <a:lstStyle/>
          <a:p>
            <a:pPr algn="ctr"/>
            <a:r>
              <a:rPr lang="en-IN" sz="2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ptos" panose="020B0004020202020204" pitchFamily="34" charset="0"/>
              </a:rPr>
              <a:t>Gross Sales of Channel in FY 2021 &amp; %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4E973-BF32-697A-AD36-AD5069528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052" y="841963"/>
            <a:ext cx="10515600" cy="5174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Question. 9</a:t>
            </a:r>
            <a:endParaRPr lang="en-GB" sz="24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GB" sz="2400" dirty="0">
                <a:latin typeface="Aptos" panose="020B0004020202020204" pitchFamily="34" charset="0"/>
              </a:rPr>
              <a:t>Which channel helped to bring more gross sales in the fiscal year 2021 and the percentage of contribution? The final output contains these fields, channel </a:t>
            </a:r>
            <a:r>
              <a:rPr lang="en-GB" sz="2400" dirty="0" err="1">
                <a:latin typeface="Aptos" panose="020B0004020202020204" pitchFamily="34" charset="0"/>
              </a:rPr>
              <a:t>gross_sales_mln</a:t>
            </a:r>
            <a:r>
              <a:rPr lang="en-GB" sz="2400" dirty="0">
                <a:latin typeface="Aptos" panose="020B0004020202020204" pitchFamily="34" charset="0"/>
              </a:rPr>
              <a:t> percentage</a:t>
            </a:r>
          </a:p>
          <a:p>
            <a:pPr marL="0" indent="0">
              <a:buNone/>
            </a:pPr>
            <a:r>
              <a:rPr lang="en-GB" sz="2400" dirty="0">
                <a:latin typeface="Aptos" panose="020B0004020202020204" pitchFamily="34" charset="0"/>
              </a:rPr>
              <a:t>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Query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6E19E-6B6C-D276-F31F-8A4AFB98E234}"/>
              </a:ext>
            </a:extLst>
          </p:cNvPr>
          <p:cNvSpPr txBox="1"/>
          <p:nvPr/>
        </p:nvSpPr>
        <p:spPr>
          <a:xfrm>
            <a:off x="2183362" y="2855167"/>
            <a:ext cx="863081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3"/>
                </a:solidFill>
              </a:rPr>
              <a:t>with</a:t>
            </a:r>
            <a:r>
              <a:rPr lang="en-IN" sz="1400" dirty="0"/>
              <a:t> cte1 </a:t>
            </a:r>
            <a:r>
              <a:rPr lang="en-IN" sz="1400" dirty="0">
                <a:solidFill>
                  <a:schemeClr val="accent3"/>
                </a:solidFill>
              </a:rPr>
              <a:t>as</a:t>
            </a:r>
            <a:r>
              <a:rPr lang="en-IN" sz="1400" dirty="0"/>
              <a:t> (</a:t>
            </a:r>
          </a:p>
          <a:p>
            <a:r>
              <a:rPr lang="en-IN" sz="1400" dirty="0"/>
              <a:t>       </a:t>
            </a:r>
            <a:r>
              <a:rPr lang="en-IN" sz="1400" dirty="0">
                <a:solidFill>
                  <a:schemeClr val="accent3"/>
                </a:solidFill>
              </a:rPr>
              <a:t>select</a:t>
            </a:r>
          </a:p>
          <a:p>
            <a:r>
              <a:rPr lang="en-IN" sz="1400" dirty="0"/>
              <a:t> 	 </a:t>
            </a:r>
            <a:r>
              <a:rPr lang="en-IN" sz="1400" dirty="0" err="1"/>
              <a:t>c.channel</a:t>
            </a:r>
            <a:r>
              <a:rPr lang="en-IN" sz="1400" dirty="0"/>
              <a:t>,</a:t>
            </a:r>
          </a:p>
          <a:p>
            <a:r>
              <a:rPr lang="en-IN" sz="1400" dirty="0"/>
              <a:t>     </a:t>
            </a:r>
            <a:r>
              <a:rPr lang="en-IN" sz="1400" dirty="0">
                <a:solidFill>
                  <a:schemeClr val="accent3"/>
                </a:solidFill>
              </a:rPr>
              <a:t>round</a:t>
            </a:r>
            <a:r>
              <a:rPr lang="en-IN" sz="1400" dirty="0"/>
              <a:t>(sum(</a:t>
            </a:r>
            <a:r>
              <a:rPr lang="en-IN" sz="1400" dirty="0" err="1"/>
              <a:t>sold_quantity</a:t>
            </a:r>
            <a:r>
              <a:rPr lang="en-IN" sz="1400" dirty="0"/>
              <a:t>*</a:t>
            </a:r>
            <a:r>
              <a:rPr lang="en-IN" sz="1400" dirty="0" err="1"/>
              <a:t>gross_price</a:t>
            </a:r>
            <a:r>
              <a:rPr lang="en-IN" sz="1400" dirty="0"/>
              <a:t>)/1000000) </a:t>
            </a:r>
            <a:r>
              <a:rPr lang="en-IN" sz="1400" dirty="0">
                <a:solidFill>
                  <a:schemeClr val="accent3"/>
                </a:solidFill>
              </a:rPr>
              <a:t>as</a:t>
            </a:r>
            <a:r>
              <a:rPr lang="en-IN" sz="1400" dirty="0"/>
              <a:t> </a:t>
            </a:r>
            <a:r>
              <a:rPr lang="en-IN" sz="1400" dirty="0" err="1"/>
              <a:t>gross_sales_mln</a:t>
            </a:r>
            <a:r>
              <a:rPr lang="en-IN" sz="1400" dirty="0"/>
              <a:t>    </a:t>
            </a:r>
          </a:p>
          <a:p>
            <a:r>
              <a:rPr lang="en-IN" sz="1400" dirty="0"/>
              <a:t> </a:t>
            </a:r>
            <a:r>
              <a:rPr lang="en-IN" sz="1400" dirty="0">
                <a:solidFill>
                  <a:schemeClr val="accent3"/>
                </a:solidFill>
              </a:rPr>
              <a:t>from</a:t>
            </a:r>
            <a:r>
              <a:rPr lang="en-IN" sz="1400" dirty="0"/>
              <a:t> </a:t>
            </a:r>
            <a:r>
              <a:rPr lang="en-IN" sz="1400" dirty="0" err="1"/>
              <a:t>dim_customer</a:t>
            </a:r>
            <a:r>
              <a:rPr lang="en-IN" sz="1400" dirty="0"/>
              <a:t> c</a:t>
            </a:r>
          </a:p>
          <a:p>
            <a:r>
              <a:rPr lang="en-IN" sz="1400" dirty="0"/>
              <a:t>      </a:t>
            </a:r>
            <a:r>
              <a:rPr lang="en-IN" sz="1400" dirty="0">
                <a:solidFill>
                  <a:schemeClr val="accent3"/>
                </a:solidFill>
              </a:rPr>
              <a:t>join</a:t>
            </a:r>
            <a:r>
              <a:rPr lang="en-IN" sz="1400" dirty="0"/>
              <a:t> </a:t>
            </a:r>
            <a:r>
              <a:rPr lang="en-IN" sz="1400" dirty="0" err="1"/>
              <a:t>fact_sales_monthly</a:t>
            </a:r>
            <a:r>
              <a:rPr lang="en-IN" sz="1400" dirty="0"/>
              <a:t> s</a:t>
            </a:r>
          </a:p>
          <a:p>
            <a:r>
              <a:rPr lang="en-IN" sz="1400" dirty="0"/>
              <a:t>          </a:t>
            </a:r>
            <a:r>
              <a:rPr lang="en-IN" sz="1400" dirty="0">
                <a:solidFill>
                  <a:schemeClr val="accent3"/>
                </a:solidFill>
              </a:rPr>
              <a:t>on</a:t>
            </a:r>
            <a:r>
              <a:rPr lang="en-IN" sz="1400" dirty="0"/>
              <a:t> </a:t>
            </a:r>
            <a:r>
              <a:rPr lang="en-IN" sz="1400" dirty="0" err="1"/>
              <a:t>s.customer_code</a:t>
            </a:r>
            <a:r>
              <a:rPr lang="en-IN" sz="1400" dirty="0"/>
              <a:t> = </a:t>
            </a:r>
            <a:r>
              <a:rPr lang="en-IN" sz="1400" dirty="0" err="1"/>
              <a:t>c.customer_code</a:t>
            </a:r>
            <a:endParaRPr lang="en-IN" sz="1400" dirty="0"/>
          </a:p>
          <a:p>
            <a:r>
              <a:rPr lang="en-IN" sz="1400" dirty="0"/>
              <a:t>	 </a:t>
            </a:r>
            <a:r>
              <a:rPr lang="en-IN" sz="1400" dirty="0">
                <a:solidFill>
                  <a:schemeClr val="accent3"/>
                </a:solidFill>
              </a:rPr>
              <a:t>join</a:t>
            </a:r>
            <a:r>
              <a:rPr lang="en-IN" sz="1400" dirty="0"/>
              <a:t> </a:t>
            </a:r>
            <a:r>
              <a:rPr lang="en-IN" sz="1400" dirty="0" err="1"/>
              <a:t>fact_gross_price</a:t>
            </a:r>
            <a:r>
              <a:rPr lang="en-IN" sz="1400" dirty="0"/>
              <a:t> g</a:t>
            </a:r>
          </a:p>
          <a:p>
            <a:r>
              <a:rPr lang="en-IN" sz="1400" dirty="0"/>
              <a:t>        </a:t>
            </a:r>
            <a:r>
              <a:rPr lang="en-IN" sz="1400" dirty="0">
                <a:solidFill>
                  <a:schemeClr val="accent3"/>
                </a:solidFill>
              </a:rPr>
              <a:t>on</a:t>
            </a:r>
            <a:r>
              <a:rPr lang="en-IN" sz="1400" dirty="0"/>
              <a:t> </a:t>
            </a:r>
            <a:r>
              <a:rPr lang="en-IN" sz="1400" dirty="0" err="1"/>
              <a:t>g.product_code</a:t>
            </a:r>
            <a:r>
              <a:rPr lang="en-IN" sz="1400" dirty="0"/>
              <a:t> = </a:t>
            </a:r>
            <a:r>
              <a:rPr lang="en-IN" sz="1400" dirty="0" err="1"/>
              <a:t>s.product_code</a:t>
            </a:r>
            <a:endParaRPr lang="en-IN" sz="1400" dirty="0"/>
          </a:p>
          <a:p>
            <a:r>
              <a:rPr lang="en-IN" sz="1400" dirty="0"/>
              <a:t>	</a:t>
            </a:r>
            <a:r>
              <a:rPr lang="en-IN" sz="1400" dirty="0">
                <a:solidFill>
                  <a:schemeClr val="accent3"/>
                </a:solidFill>
              </a:rPr>
              <a:t>where</a:t>
            </a:r>
            <a:r>
              <a:rPr lang="en-IN" sz="1400" dirty="0"/>
              <a:t> </a:t>
            </a:r>
            <a:r>
              <a:rPr lang="en-IN" sz="1400" dirty="0" err="1"/>
              <a:t>s.fiscal_year</a:t>
            </a:r>
            <a:r>
              <a:rPr lang="en-IN" sz="1400" dirty="0"/>
              <a:t> = 2021</a:t>
            </a:r>
          </a:p>
          <a:p>
            <a:r>
              <a:rPr lang="en-IN" sz="1400" dirty="0"/>
              <a:t>    </a:t>
            </a:r>
            <a:r>
              <a:rPr lang="en-IN" sz="1400" dirty="0">
                <a:solidFill>
                  <a:schemeClr val="accent3"/>
                </a:solidFill>
              </a:rPr>
              <a:t>group by </a:t>
            </a:r>
            <a:r>
              <a:rPr lang="en-IN" sz="1400" dirty="0" err="1"/>
              <a:t>c.channel</a:t>
            </a:r>
            <a:endParaRPr lang="en-IN" sz="1400" dirty="0"/>
          </a:p>
          <a:p>
            <a:r>
              <a:rPr lang="en-IN" sz="1400" dirty="0"/>
              <a:t>    )</a:t>
            </a:r>
          </a:p>
          <a:p>
            <a:r>
              <a:rPr lang="en-IN" sz="1400" dirty="0"/>
              <a:t>    </a:t>
            </a:r>
            <a:r>
              <a:rPr lang="en-IN" sz="1400" dirty="0">
                <a:solidFill>
                  <a:schemeClr val="accent3"/>
                </a:solidFill>
              </a:rPr>
              <a:t>select</a:t>
            </a:r>
            <a:r>
              <a:rPr lang="en-IN" sz="1400" dirty="0"/>
              <a:t> *,</a:t>
            </a:r>
          </a:p>
          <a:p>
            <a:r>
              <a:rPr lang="en-IN" sz="1400" dirty="0"/>
              <a:t>      </a:t>
            </a:r>
            <a:r>
              <a:rPr lang="en-IN" sz="1400" dirty="0" err="1">
                <a:solidFill>
                  <a:schemeClr val="accent3"/>
                </a:solidFill>
              </a:rPr>
              <a:t>concat</a:t>
            </a:r>
            <a:r>
              <a:rPr lang="en-IN" sz="1400" dirty="0"/>
              <a:t>(round(</a:t>
            </a:r>
            <a:r>
              <a:rPr lang="en-IN" sz="1400" dirty="0" err="1"/>
              <a:t>gross_sales_mln</a:t>
            </a:r>
            <a:r>
              <a:rPr lang="en-IN" sz="1400" dirty="0"/>
              <a:t>*100/ (select sum(</a:t>
            </a:r>
            <a:r>
              <a:rPr lang="en-IN" sz="1400" dirty="0" err="1"/>
              <a:t>gross_sales_mln</a:t>
            </a:r>
            <a:r>
              <a:rPr lang="en-IN" sz="1400" dirty="0"/>
              <a:t>) from cte1),2)," %") as </a:t>
            </a:r>
            <a:r>
              <a:rPr lang="en-IN" sz="1400" dirty="0" err="1"/>
              <a:t>pct_contribution</a:t>
            </a:r>
            <a:r>
              <a:rPr lang="en-IN" sz="1400" dirty="0"/>
              <a:t> </a:t>
            </a:r>
          </a:p>
          <a:p>
            <a:r>
              <a:rPr lang="en-IN" sz="1400" dirty="0"/>
              <a:t>        </a:t>
            </a:r>
            <a:r>
              <a:rPr lang="en-IN" sz="1400" dirty="0">
                <a:solidFill>
                  <a:schemeClr val="accent3"/>
                </a:solidFill>
              </a:rPr>
              <a:t>from</a:t>
            </a:r>
            <a:r>
              <a:rPr lang="en-IN" sz="1400" dirty="0"/>
              <a:t> cte1</a:t>
            </a:r>
          </a:p>
          <a:p>
            <a:r>
              <a:rPr lang="en-IN" sz="1400" dirty="0"/>
              <a:t>        </a:t>
            </a:r>
            <a:r>
              <a:rPr lang="en-IN" sz="1400" dirty="0">
                <a:solidFill>
                  <a:schemeClr val="accent3"/>
                </a:solidFill>
              </a:rPr>
              <a:t>order by </a:t>
            </a:r>
            <a:r>
              <a:rPr lang="en-IN" sz="1400" dirty="0" err="1"/>
              <a:t>pct_contribution</a:t>
            </a:r>
            <a:r>
              <a:rPr lang="en-IN" sz="1400" dirty="0"/>
              <a:t> </a:t>
            </a:r>
            <a:r>
              <a:rPr lang="en-IN" sz="1400" dirty="0" err="1"/>
              <a:t>desc</a:t>
            </a:r>
            <a:endParaRPr lang="en-IN" sz="1400" dirty="0"/>
          </a:p>
          <a:p>
            <a:r>
              <a:rPr lang="en-IN" sz="1400" dirty="0"/>
              <a:t>         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00924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CBFCF-CB91-583F-4B18-23AE7115C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w: Right 4">
            <a:extLst>
              <a:ext uri="{FF2B5EF4-FFF2-40B4-BE49-F238E27FC236}">
                <a16:creationId xmlns:a16="http://schemas.microsoft.com/office/drawing/2014/main" id="{082E2643-E78C-614A-B377-3F07E431A58F}"/>
              </a:ext>
            </a:extLst>
          </p:cNvPr>
          <p:cNvSpPr/>
          <p:nvPr/>
        </p:nvSpPr>
        <p:spPr>
          <a:xfrm>
            <a:off x="5377856" y="2423473"/>
            <a:ext cx="572680" cy="2556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F1503B-FA32-ACBE-06E8-CE877B278F66}"/>
              </a:ext>
            </a:extLst>
          </p:cNvPr>
          <p:cNvSpPr txBox="1"/>
          <p:nvPr/>
        </p:nvSpPr>
        <p:spPr>
          <a:xfrm>
            <a:off x="587678" y="4381878"/>
            <a:ext cx="1550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Insights</a:t>
            </a:r>
            <a:endParaRPr lang="en-IN" sz="24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42B75D-75BB-DB6E-75E0-C4B3ABF8D978}"/>
              </a:ext>
            </a:extLst>
          </p:cNvPr>
          <p:cNvSpPr txBox="1"/>
          <p:nvPr/>
        </p:nvSpPr>
        <p:spPr>
          <a:xfrm>
            <a:off x="334543" y="4993438"/>
            <a:ext cx="109342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b="1" dirty="0">
                <a:solidFill>
                  <a:srgbClr val="FFC000"/>
                </a:solidFill>
                <a:latin typeface="Aptos" panose="020B0004020202020204" pitchFamily="34" charset="0"/>
              </a:rPr>
              <a:t>Retailer</a:t>
            </a:r>
            <a:r>
              <a:rPr lang="en-GB" sz="1600" dirty="0">
                <a:latin typeface="Aptos" panose="020B0004020202020204" pitchFamily="34" charset="0"/>
              </a:rPr>
              <a:t> was the strongest performing channel in FY 2021, generating </a:t>
            </a:r>
            <a:r>
              <a:rPr lang="en-GB" sz="1600" b="1" dirty="0">
                <a:solidFill>
                  <a:srgbClr val="FFC000"/>
                </a:solidFill>
                <a:latin typeface="Aptos" panose="020B0004020202020204" pitchFamily="34" charset="0"/>
              </a:rPr>
              <a:t>$1,924M</a:t>
            </a: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 </a:t>
            </a:r>
            <a:r>
              <a:rPr lang="en-GB" sz="1600" dirty="0">
                <a:latin typeface="Aptos" panose="020B0004020202020204" pitchFamily="34" charset="0"/>
              </a:rPr>
              <a:t>and contributing </a:t>
            </a:r>
            <a:r>
              <a:rPr lang="en-GB" sz="1600" b="1" dirty="0">
                <a:solidFill>
                  <a:srgbClr val="FFC000"/>
                </a:solidFill>
                <a:latin typeface="Aptos" panose="020B0004020202020204" pitchFamily="34" charset="0"/>
              </a:rPr>
              <a:t>73.21%</a:t>
            </a: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 </a:t>
            </a:r>
            <a:r>
              <a:rPr lang="en-GB" sz="1600" dirty="0">
                <a:latin typeface="Aptos" panose="020B0004020202020204" pitchFamily="34" charset="0"/>
              </a:rPr>
              <a:t>of the total gross sales.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b="1" dirty="0">
                <a:solidFill>
                  <a:srgbClr val="FFC000"/>
                </a:solidFill>
                <a:latin typeface="Aptos" panose="020B0004020202020204" pitchFamily="34" charset="0"/>
              </a:rPr>
              <a:t>Direct</a:t>
            </a:r>
            <a:r>
              <a:rPr lang="en-GB" sz="1600" dirty="0">
                <a:latin typeface="Aptos" panose="020B0004020202020204" pitchFamily="34" charset="0"/>
              </a:rPr>
              <a:t> and </a:t>
            </a:r>
            <a:r>
              <a:rPr lang="en-GB" sz="1600" b="1" dirty="0">
                <a:solidFill>
                  <a:srgbClr val="FFC000"/>
                </a:solidFill>
                <a:latin typeface="Aptos" panose="020B0004020202020204" pitchFamily="34" charset="0"/>
              </a:rPr>
              <a:t>Distributor</a:t>
            </a:r>
            <a:r>
              <a:rPr lang="en-GB" sz="1600" dirty="0">
                <a:latin typeface="Aptos" panose="020B0004020202020204" pitchFamily="34" charset="0"/>
              </a:rPr>
              <a:t> channels contributed </a:t>
            </a:r>
            <a:r>
              <a:rPr lang="en-GB" sz="1600" b="1" dirty="0">
                <a:solidFill>
                  <a:srgbClr val="FFC000"/>
                </a:solidFill>
                <a:latin typeface="Aptos" panose="020B0004020202020204" pitchFamily="34" charset="0"/>
              </a:rPr>
              <a:t>15.49%</a:t>
            </a: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 </a:t>
            </a:r>
            <a:r>
              <a:rPr lang="en-GB" sz="1600" dirty="0">
                <a:latin typeface="Aptos" panose="020B0004020202020204" pitchFamily="34" charset="0"/>
              </a:rPr>
              <a:t>and </a:t>
            </a:r>
            <a:r>
              <a:rPr lang="en-GB" sz="1600" b="1" dirty="0">
                <a:solidFill>
                  <a:srgbClr val="FFC000"/>
                </a:solidFill>
                <a:latin typeface="Aptos" panose="020B0004020202020204" pitchFamily="34" charset="0"/>
              </a:rPr>
              <a:t>11.30%</a:t>
            </a: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 </a:t>
            </a:r>
            <a:r>
              <a:rPr lang="en-GB" sz="1600" dirty="0">
                <a:latin typeface="Aptos" panose="020B0004020202020204" pitchFamily="34" charset="0"/>
              </a:rPr>
              <a:t>respectively, indicating a significantly smaller share compared to Retailer.</a:t>
            </a:r>
            <a:endParaRPr lang="en-IN" sz="1600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57BAF4-2FEB-0372-870A-CC5C58EFF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98" y="1766020"/>
            <a:ext cx="4789432" cy="13803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A5B2509-CEEB-2ADF-D879-F10D29079587}"/>
              </a:ext>
            </a:extLst>
          </p:cNvPr>
          <p:cNvSpPr txBox="1">
            <a:spLocks/>
          </p:cNvSpPr>
          <p:nvPr/>
        </p:nvSpPr>
        <p:spPr>
          <a:xfrm>
            <a:off x="800296" y="263737"/>
            <a:ext cx="10515600" cy="519778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600" b="0" kern="12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Conversion  of   Output  To  Visual</a:t>
            </a:r>
            <a:endParaRPr lang="en-IN" sz="2800" b="1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4243AAF-55E5-28C5-5A42-F2BA3BAFD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53369"/>
            <a:ext cx="5552658" cy="30138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81849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5872-E111-76C8-FECD-340E21542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2EB37-1C39-3A00-704F-63297E521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151"/>
            <a:ext cx="10515600" cy="637765"/>
          </a:xfrm>
        </p:spPr>
        <p:txBody>
          <a:bodyPr>
            <a:normAutofit/>
          </a:bodyPr>
          <a:lstStyle/>
          <a:p>
            <a:pPr algn="ctr"/>
            <a:r>
              <a:rPr lang="en-IN" sz="26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ptos" panose="020B0004020202020204" pitchFamily="34" charset="0"/>
              </a:rPr>
              <a:t>Top 3 Products in each Division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726BD-1927-4CA5-F78C-2CDA80D7E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052" y="841963"/>
            <a:ext cx="10515600" cy="5174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Question. 10</a:t>
            </a:r>
            <a:endParaRPr lang="en-GB" sz="24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GB" sz="2000" dirty="0">
                <a:latin typeface="Aptos" panose="020B0004020202020204" pitchFamily="34" charset="0"/>
              </a:rPr>
              <a:t>Get the Top 3 products in each division that have a high </a:t>
            </a:r>
            <a:r>
              <a:rPr lang="en-GB" sz="2000" dirty="0" err="1">
                <a:latin typeface="Aptos" panose="020B0004020202020204" pitchFamily="34" charset="0"/>
              </a:rPr>
              <a:t>total_sold_quantity</a:t>
            </a:r>
            <a:r>
              <a:rPr lang="en-GB" sz="2000" dirty="0">
                <a:latin typeface="Aptos" panose="020B0004020202020204" pitchFamily="34" charset="0"/>
              </a:rPr>
              <a:t> in the </a:t>
            </a:r>
            <a:r>
              <a:rPr lang="en-GB" sz="2000" dirty="0" err="1">
                <a:latin typeface="Aptos" panose="020B0004020202020204" pitchFamily="34" charset="0"/>
              </a:rPr>
              <a:t>fiscal_year</a:t>
            </a:r>
            <a:r>
              <a:rPr lang="en-GB" sz="2000" dirty="0">
                <a:latin typeface="Aptos" panose="020B0004020202020204" pitchFamily="34" charset="0"/>
              </a:rPr>
              <a:t> 2021? The final output contains these fields,</a:t>
            </a:r>
          </a:p>
          <a:p>
            <a:pPr marL="0" indent="0">
              <a:buNone/>
            </a:pPr>
            <a:r>
              <a:rPr lang="en-GB" sz="2000" dirty="0">
                <a:latin typeface="Aptos" panose="020B0004020202020204" pitchFamily="34" charset="0"/>
              </a:rPr>
              <a:t>1.division  2.product_code  3.product 4.total_sold_quantity 5. </a:t>
            </a:r>
            <a:r>
              <a:rPr lang="en-GB" sz="2000" dirty="0" err="1">
                <a:latin typeface="Aptos" panose="020B0004020202020204" pitchFamily="34" charset="0"/>
              </a:rPr>
              <a:t>rank_order</a:t>
            </a:r>
            <a:r>
              <a:rPr lang="en-GB" sz="2000" dirty="0">
                <a:latin typeface="Aptos" panose="020B00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GB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Query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28C61F-D6DF-E48B-D1DC-864A31A20990}"/>
              </a:ext>
            </a:extLst>
          </p:cNvPr>
          <p:cNvSpPr txBox="1"/>
          <p:nvPr/>
        </p:nvSpPr>
        <p:spPr>
          <a:xfrm>
            <a:off x="2817845" y="2873829"/>
            <a:ext cx="80523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3"/>
                </a:solidFill>
                <a:latin typeface="Aptos" panose="020B0004020202020204" pitchFamily="34" charset="0"/>
              </a:rPr>
              <a:t>with</a:t>
            </a:r>
            <a:r>
              <a:rPr lang="en-IN" sz="1400" dirty="0">
                <a:latin typeface="Aptos" panose="020B0004020202020204" pitchFamily="34" charset="0"/>
              </a:rPr>
              <a:t> cte1 </a:t>
            </a:r>
            <a:r>
              <a:rPr lang="en-IN" sz="1400" dirty="0">
                <a:solidFill>
                  <a:schemeClr val="accent3"/>
                </a:solidFill>
                <a:latin typeface="Aptos" panose="020B0004020202020204" pitchFamily="34" charset="0"/>
              </a:rPr>
              <a:t>as</a:t>
            </a:r>
            <a:r>
              <a:rPr lang="en-IN" sz="1400" dirty="0">
                <a:latin typeface="Aptos" panose="020B0004020202020204" pitchFamily="34" charset="0"/>
              </a:rPr>
              <a:t> (</a:t>
            </a:r>
          </a:p>
          <a:p>
            <a:r>
              <a:rPr lang="en-IN" sz="1400" dirty="0">
                <a:latin typeface="Aptos" panose="020B0004020202020204" pitchFamily="34" charset="0"/>
              </a:rPr>
              <a:t>    </a:t>
            </a:r>
            <a:r>
              <a:rPr lang="en-IN" sz="1400" dirty="0">
                <a:solidFill>
                  <a:schemeClr val="accent3"/>
                </a:solidFill>
                <a:latin typeface="Aptos" panose="020B0004020202020204" pitchFamily="34" charset="0"/>
              </a:rPr>
              <a:t>select</a:t>
            </a:r>
          </a:p>
          <a:p>
            <a:r>
              <a:rPr lang="en-IN" sz="1400" dirty="0">
                <a:latin typeface="Aptos" panose="020B0004020202020204" pitchFamily="34" charset="0"/>
              </a:rPr>
              <a:t>         </a:t>
            </a:r>
            <a:r>
              <a:rPr lang="en-IN" sz="1400" dirty="0" err="1">
                <a:latin typeface="Aptos" panose="020B0004020202020204" pitchFamily="34" charset="0"/>
              </a:rPr>
              <a:t>p.division</a:t>
            </a:r>
            <a:r>
              <a:rPr lang="en-IN" sz="1400" dirty="0">
                <a:latin typeface="Aptos" panose="020B0004020202020204" pitchFamily="34" charset="0"/>
              </a:rPr>
              <a:t>,</a:t>
            </a:r>
          </a:p>
          <a:p>
            <a:r>
              <a:rPr lang="en-IN" sz="1400" dirty="0">
                <a:latin typeface="Aptos" panose="020B0004020202020204" pitchFamily="34" charset="0"/>
              </a:rPr>
              <a:t>        </a:t>
            </a:r>
            <a:r>
              <a:rPr lang="en-IN" sz="1400" dirty="0" err="1">
                <a:latin typeface="Aptos" panose="020B0004020202020204" pitchFamily="34" charset="0"/>
              </a:rPr>
              <a:t>s.product_code</a:t>
            </a:r>
            <a:r>
              <a:rPr lang="en-IN" sz="1400" dirty="0">
                <a:latin typeface="Aptos" panose="020B0004020202020204" pitchFamily="34" charset="0"/>
              </a:rPr>
              <a:t>,</a:t>
            </a:r>
          </a:p>
          <a:p>
            <a:r>
              <a:rPr lang="en-IN" sz="1400" dirty="0">
                <a:latin typeface="Aptos" panose="020B0004020202020204" pitchFamily="34" charset="0"/>
              </a:rPr>
              <a:t>        </a:t>
            </a:r>
            <a:r>
              <a:rPr lang="en-IN" sz="1400" dirty="0" err="1">
                <a:solidFill>
                  <a:schemeClr val="accent3"/>
                </a:solidFill>
                <a:latin typeface="Aptos" panose="020B0004020202020204" pitchFamily="34" charset="0"/>
              </a:rPr>
              <a:t>concat</a:t>
            </a:r>
            <a:r>
              <a:rPr lang="en-IN" sz="1400" dirty="0">
                <a:latin typeface="Aptos" panose="020B0004020202020204" pitchFamily="34" charset="0"/>
              </a:rPr>
              <a:t>(</a:t>
            </a:r>
            <a:r>
              <a:rPr lang="en-IN" sz="1400" dirty="0" err="1">
                <a:latin typeface="Aptos" panose="020B0004020202020204" pitchFamily="34" charset="0"/>
              </a:rPr>
              <a:t>p.product</a:t>
            </a:r>
            <a:r>
              <a:rPr lang="en-IN" sz="1400" dirty="0">
                <a:latin typeface="Aptos" panose="020B0004020202020204" pitchFamily="34" charset="0"/>
              </a:rPr>
              <a:t>, ' (', </a:t>
            </a:r>
            <a:r>
              <a:rPr lang="en-IN" sz="1400" dirty="0" err="1">
                <a:latin typeface="Aptos" panose="020B0004020202020204" pitchFamily="34" charset="0"/>
              </a:rPr>
              <a:t>p.variant</a:t>
            </a:r>
            <a:r>
              <a:rPr lang="en-IN" sz="1400" dirty="0">
                <a:latin typeface="Aptos" panose="020B0004020202020204" pitchFamily="34" charset="0"/>
              </a:rPr>
              <a:t>, ')') AS product,</a:t>
            </a:r>
          </a:p>
          <a:p>
            <a:r>
              <a:rPr lang="en-IN" sz="1400" dirty="0">
                <a:latin typeface="Aptos" panose="020B0004020202020204" pitchFamily="34" charset="0"/>
              </a:rPr>
              <a:t>        </a:t>
            </a:r>
            <a:r>
              <a:rPr lang="en-IN" sz="1400" dirty="0">
                <a:solidFill>
                  <a:schemeClr val="accent3"/>
                </a:solidFill>
                <a:latin typeface="Aptos" panose="020B0004020202020204" pitchFamily="34" charset="0"/>
              </a:rPr>
              <a:t>sum</a:t>
            </a:r>
            <a:r>
              <a:rPr lang="en-IN" sz="1400" dirty="0">
                <a:latin typeface="Aptos" panose="020B0004020202020204" pitchFamily="34" charset="0"/>
              </a:rPr>
              <a:t>(</a:t>
            </a:r>
            <a:r>
              <a:rPr lang="en-IN" sz="1400" dirty="0" err="1">
                <a:latin typeface="Aptos" panose="020B0004020202020204" pitchFamily="34" charset="0"/>
              </a:rPr>
              <a:t>s.sold_quantity</a:t>
            </a:r>
            <a:r>
              <a:rPr lang="en-IN" sz="1400" dirty="0">
                <a:latin typeface="Aptos" panose="020B0004020202020204" pitchFamily="34" charset="0"/>
              </a:rPr>
              <a:t>) AS </a:t>
            </a:r>
            <a:r>
              <a:rPr lang="en-IN" sz="1400" dirty="0" err="1">
                <a:latin typeface="Aptos" panose="020B0004020202020204" pitchFamily="34" charset="0"/>
              </a:rPr>
              <a:t>total_sold_qty</a:t>
            </a:r>
            <a:r>
              <a:rPr lang="en-IN" sz="1400" dirty="0">
                <a:latin typeface="Aptos" panose="020B0004020202020204" pitchFamily="34" charset="0"/>
              </a:rPr>
              <a:t>,</a:t>
            </a:r>
          </a:p>
          <a:p>
            <a:r>
              <a:rPr lang="en-IN" sz="1400" dirty="0">
                <a:latin typeface="Aptos" panose="020B0004020202020204" pitchFamily="34" charset="0"/>
              </a:rPr>
              <a:t>        </a:t>
            </a:r>
            <a:r>
              <a:rPr lang="en-IN" sz="1400" dirty="0">
                <a:solidFill>
                  <a:schemeClr val="accent3"/>
                </a:solidFill>
                <a:latin typeface="Aptos" panose="020B0004020202020204" pitchFamily="34" charset="0"/>
              </a:rPr>
              <a:t>rank</a:t>
            </a:r>
            <a:r>
              <a:rPr lang="en-IN" sz="1400" dirty="0">
                <a:latin typeface="Aptos" panose="020B0004020202020204" pitchFamily="34" charset="0"/>
              </a:rPr>
              <a:t>() over (partition BY </a:t>
            </a:r>
            <a:r>
              <a:rPr lang="en-IN" sz="1400" dirty="0" err="1">
                <a:latin typeface="Aptos" panose="020B0004020202020204" pitchFamily="34" charset="0"/>
              </a:rPr>
              <a:t>p.division</a:t>
            </a:r>
            <a:r>
              <a:rPr lang="en-IN" sz="1400" dirty="0">
                <a:latin typeface="Aptos" panose="020B0004020202020204" pitchFamily="34" charset="0"/>
              </a:rPr>
              <a:t> ORDER BY SUM(</a:t>
            </a:r>
            <a:r>
              <a:rPr lang="en-IN" sz="1400" dirty="0" err="1">
                <a:latin typeface="Aptos" panose="020B0004020202020204" pitchFamily="34" charset="0"/>
              </a:rPr>
              <a:t>s.sold_quantity</a:t>
            </a:r>
            <a:r>
              <a:rPr lang="en-IN" sz="1400" dirty="0">
                <a:latin typeface="Aptos" panose="020B0004020202020204" pitchFamily="34" charset="0"/>
              </a:rPr>
              <a:t>) DESC) AS </a:t>
            </a:r>
            <a:r>
              <a:rPr lang="en-IN" sz="1400" dirty="0" err="1">
                <a:latin typeface="Aptos" panose="020B0004020202020204" pitchFamily="34" charset="0"/>
              </a:rPr>
              <a:t>rank_order</a:t>
            </a:r>
            <a:endParaRPr lang="en-IN" sz="1400" dirty="0">
              <a:latin typeface="Aptos" panose="020B0004020202020204" pitchFamily="34" charset="0"/>
            </a:endParaRPr>
          </a:p>
          <a:p>
            <a:r>
              <a:rPr lang="en-IN" sz="1400" dirty="0">
                <a:latin typeface="Aptos" panose="020B0004020202020204" pitchFamily="34" charset="0"/>
              </a:rPr>
              <a:t>    </a:t>
            </a:r>
            <a:r>
              <a:rPr lang="en-IN" sz="1400" dirty="0">
                <a:solidFill>
                  <a:schemeClr val="accent3"/>
                </a:solidFill>
                <a:latin typeface="Aptos" panose="020B0004020202020204" pitchFamily="34" charset="0"/>
              </a:rPr>
              <a:t>from</a:t>
            </a:r>
            <a:r>
              <a:rPr lang="en-IN" sz="1400" dirty="0">
                <a:latin typeface="Aptos" panose="020B0004020202020204" pitchFamily="34" charset="0"/>
              </a:rPr>
              <a:t> </a:t>
            </a:r>
            <a:r>
              <a:rPr lang="en-IN" sz="1400" dirty="0" err="1">
                <a:latin typeface="Aptos" panose="020B0004020202020204" pitchFamily="34" charset="0"/>
              </a:rPr>
              <a:t>dim_product</a:t>
            </a:r>
            <a:r>
              <a:rPr lang="en-IN" sz="1400" dirty="0">
                <a:latin typeface="Aptos" panose="020B0004020202020204" pitchFamily="34" charset="0"/>
              </a:rPr>
              <a:t> p </a:t>
            </a:r>
          </a:p>
          <a:p>
            <a:r>
              <a:rPr lang="en-IN" sz="1400" dirty="0">
                <a:latin typeface="Aptos" panose="020B0004020202020204" pitchFamily="34" charset="0"/>
              </a:rPr>
              <a:t>   </a:t>
            </a:r>
            <a:r>
              <a:rPr lang="en-IN" sz="1400" dirty="0">
                <a:solidFill>
                  <a:schemeClr val="accent3"/>
                </a:solidFill>
                <a:latin typeface="Aptos" panose="020B0004020202020204" pitchFamily="34" charset="0"/>
              </a:rPr>
              <a:t>join</a:t>
            </a:r>
            <a:r>
              <a:rPr lang="en-IN" sz="1400" dirty="0">
                <a:latin typeface="Aptos" panose="020B0004020202020204" pitchFamily="34" charset="0"/>
              </a:rPr>
              <a:t> </a:t>
            </a:r>
            <a:r>
              <a:rPr lang="en-IN" sz="1400" dirty="0" err="1">
                <a:latin typeface="Aptos" panose="020B0004020202020204" pitchFamily="34" charset="0"/>
              </a:rPr>
              <a:t>fact_sales_monthly</a:t>
            </a:r>
            <a:r>
              <a:rPr lang="en-IN" sz="1400" dirty="0">
                <a:latin typeface="Aptos" panose="020B0004020202020204" pitchFamily="34" charset="0"/>
              </a:rPr>
              <a:t> s</a:t>
            </a:r>
          </a:p>
          <a:p>
            <a:r>
              <a:rPr lang="en-IN" sz="1400" dirty="0">
                <a:latin typeface="Aptos" panose="020B0004020202020204" pitchFamily="34" charset="0"/>
              </a:rPr>
              <a:t>         </a:t>
            </a:r>
            <a:r>
              <a:rPr lang="en-IN" sz="1400" dirty="0">
                <a:solidFill>
                  <a:schemeClr val="accent3"/>
                </a:solidFill>
                <a:latin typeface="Aptos" panose="020B0004020202020204" pitchFamily="34" charset="0"/>
              </a:rPr>
              <a:t>on</a:t>
            </a:r>
            <a:r>
              <a:rPr lang="en-IN" sz="1400" dirty="0">
                <a:latin typeface="Aptos" panose="020B0004020202020204" pitchFamily="34" charset="0"/>
              </a:rPr>
              <a:t> </a:t>
            </a:r>
            <a:r>
              <a:rPr lang="en-IN" sz="1400" dirty="0" err="1">
                <a:latin typeface="Aptos" panose="020B0004020202020204" pitchFamily="34" charset="0"/>
              </a:rPr>
              <a:t>p.product_code</a:t>
            </a:r>
            <a:r>
              <a:rPr lang="en-IN" sz="1400" dirty="0">
                <a:latin typeface="Aptos" panose="020B0004020202020204" pitchFamily="34" charset="0"/>
              </a:rPr>
              <a:t> = </a:t>
            </a:r>
            <a:r>
              <a:rPr lang="en-IN" sz="1400" dirty="0" err="1">
                <a:latin typeface="Aptos" panose="020B0004020202020204" pitchFamily="34" charset="0"/>
              </a:rPr>
              <a:t>s.product_code</a:t>
            </a:r>
            <a:endParaRPr lang="en-IN" sz="1400" dirty="0">
              <a:latin typeface="Aptos" panose="020B0004020202020204" pitchFamily="34" charset="0"/>
            </a:endParaRPr>
          </a:p>
          <a:p>
            <a:r>
              <a:rPr lang="en-IN" sz="1400" dirty="0">
                <a:latin typeface="Aptos" panose="020B0004020202020204" pitchFamily="34" charset="0"/>
              </a:rPr>
              <a:t>    </a:t>
            </a:r>
            <a:r>
              <a:rPr lang="en-IN" sz="1400" dirty="0">
                <a:solidFill>
                  <a:schemeClr val="accent3"/>
                </a:solidFill>
                <a:latin typeface="Aptos" panose="020B0004020202020204" pitchFamily="34" charset="0"/>
              </a:rPr>
              <a:t>where</a:t>
            </a:r>
            <a:r>
              <a:rPr lang="en-IN" sz="1400" dirty="0">
                <a:latin typeface="Aptos" panose="020B0004020202020204" pitchFamily="34" charset="0"/>
              </a:rPr>
              <a:t> </a:t>
            </a:r>
            <a:r>
              <a:rPr lang="en-IN" sz="1400" dirty="0" err="1">
                <a:latin typeface="Aptos" panose="020B0004020202020204" pitchFamily="34" charset="0"/>
              </a:rPr>
              <a:t>fiscal_year</a:t>
            </a:r>
            <a:r>
              <a:rPr lang="en-IN" sz="1400" dirty="0">
                <a:latin typeface="Aptos" panose="020B0004020202020204" pitchFamily="34" charset="0"/>
              </a:rPr>
              <a:t> = 2021</a:t>
            </a:r>
          </a:p>
          <a:p>
            <a:r>
              <a:rPr lang="en-IN" sz="1400" dirty="0">
                <a:latin typeface="Aptos" panose="020B0004020202020204" pitchFamily="34" charset="0"/>
              </a:rPr>
              <a:t>    </a:t>
            </a:r>
            <a:r>
              <a:rPr lang="en-IN" sz="1400" dirty="0">
                <a:solidFill>
                  <a:schemeClr val="accent3"/>
                </a:solidFill>
                <a:latin typeface="Aptos" panose="020B0004020202020204" pitchFamily="34" charset="0"/>
              </a:rPr>
              <a:t>group by </a:t>
            </a:r>
            <a:r>
              <a:rPr lang="en-IN" sz="1400" dirty="0" err="1">
                <a:latin typeface="Aptos" panose="020B0004020202020204" pitchFamily="34" charset="0"/>
              </a:rPr>
              <a:t>p.division</a:t>
            </a:r>
            <a:r>
              <a:rPr lang="en-IN" sz="1400" dirty="0">
                <a:latin typeface="Aptos" panose="020B0004020202020204" pitchFamily="34" charset="0"/>
              </a:rPr>
              <a:t>, </a:t>
            </a:r>
            <a:r>
              <a:rPr lang="en-IN" sz="1400" dirty="0" err="1">
                <a:latin typeface="Aptos" panose="020B0004020202020204" pitchFamily="34" charset="0"/>
              </a:rPr>
              <a:t>s.product_code</a:t>
            </a:r>
            <a:r>
              <a:rPr lang="en-IN" sz="1400" dirty="0">
                <a:latin typeface="Aptos" panose="020B0004020202020204" pitchFamily="34" charset="0"/>
              </a:rPr>
              <a:t>, </a:t>
            </a:r>
            <a:r>
              <a:rPr lang="en-IN" sz="1400" dirty="0" err="1">
                <a:latin typeface="Aptos" panose="020B0004020202020204" pitchFamily="34" charset="0"/>
              </a:rPr>
              <a:t>p.product</a:t>
            </a:r>
            <a:r>
              <a:rPr lang="en-IN" sz="1400" dirty="0">
                <a:latin typeface="Aptos" panose="020B0004020202020204" pitchFamily="34" charset="0"/>
              </a:rPr>
              <a:t>, </a:t>
            </a:r>
            <a:r>
              <a:rPr lang="en-IN" sz="1400" dirty="0" err="1">
                <a:latin typeface="Aptos" panose="020B0004020202020204" pitchFamily="34" charset="0"/>
              </a:rPr>
              <a:t>p.variant</a:t>
            </a:r>
            <a:endParaRPr lang="en-IN" sz="1400" dirty="0">
              <a:latin typeface="Aptos" panose="020B0004020202020204" pitchFamily="34" charset="0"/>
            </a:endParaRPr>
          </a:p>
          <a:p>
            <a:r>
              <a:rPr lang="en-IN" sz="1400" dirty="0">
                <a:latin typeface="Aptos" panose="020B0004020202020204" pitchFamily="34" charset="0"/>
              </a:rPr>
              <a:t>)</a:t>
            </a:r>
          </a:p>
          <a:p>
            <a:r>
              <a:rPr lang="en-IN" sz="1400" dirty="0">
                <a:solidFill>
                  <a:schemeClr val="accent3"/>
                </a:solidFill>
                <a:latin typeface="Aptos" panose="020B0004020202020204" pitchFamily="34" charset="0"/>
              </a:rPr>
              <a:t>select</a:t>
            </a:r>
            <a:r>
              <a:rPr lang="en-IN" sz="1400" dirty="0">
                <a:latin typeface="Aptos" panose="020B0004020202020204" pitchFamily="34" charset="0"/>
              </a:rPr>
              <a:t> *</a:t>
            </a:r>
          </a:p>
          <a:p>
            <a:r>
              <a:rPr lang="en-IN" sz="1400" dirty="0">
                <a:solidFill>
                  <a:schemeClr val="accent3"/>
                </a:solidFill>
                <a:latin typeface="Aptos" panose="020B0004020202020204" pitchFamily="34" charset="0"/>
              </a:rPr>
              <a:t>from</a:t>
            </a:r>
            <a:r>
              <a:rPr lang="en-IN" sz="1400" dirty="0">
                <a:latin typeface="Aptos" panose="020B0004020202020204" pitchFamily="34" charset="0"/>
              </a:rPr>
              <a:t> cte1</a:t>
            </a:r>
          </a:p>
          <a:p>
            <a:r>
              <a:rPr lang="en-IN" sz="1400" dirty="0">
                <a:solidFill>
                  <a:schemeClr val="accent3"/>
                </a:solidFill>
                <a:latin typeface="Aptos" panose="020B0004020202020204" pitchFamily="34" charset="0"/>
              </a:rPr>
              <a:t>where</a:t>
            </a:r>
            <a:r>
              <a:rPr lang="en-IN" sz="1400" dirty="0">
                <a:latin typeface="Aptos" panose="020B0004020202020204" pitchFamily="34" charset="0"/>
              </a:rPr>
              <a:t> </a:t>
            </a:r>
            <a:r>
              <a:rPr lang="en-IN" sz="1400" dirty="0" err="1">
                <a:latin typeface="Aptos" panose="020B0004020202020204" pitchFamily="34" charset="0"/>
              </a:rPr>
              <a:t>rank_order</a:t>
            </a:r>
            <a:r>
              <a:rPr lang="en-IN" sz="1400" dirty="0">
                <a:latin typeface="Aptos" panose="020B0004020202020204" pitchFamily="34" charset="0"/>
              </a:rPr>
              <a:t> </a:t>
            </a:r>
            <a:r>
              <a:rPr lang="en-IN" sz="1400" dirty="0">
                <a:solidFill>
                  <a:schemeClr val="accent3"/>
                </a:solidFill>
                <a:latin typeface="Aptos" panose="020B0004020202020204" pitchFamily="34" charset="0"/>
              </a:rPr>
              <a:t>in</a:t>
            </a:r>
            <a:r>
              <a:rPr lang="en-IN" sz="1400" dirty="0">
                <a:latin typeface="Aptos" panose="020B0004020202020204" pitchFamily="34" charset="0"/>
              </a:rPr>
              <a:t> (1, 2, 3)</a:t>
            </a:r>
          </a:p>
          <a:p>
            <a:r>
              <a:rPr lang="en-IN" sz="1400" dirty="0">
                <a:solidFill>
                  <a:schemeClr val="accent3"/>
                </a:solidFill>
                <a:latin typeface="Aptos" panose="020B0004020202020204" pitchFamily="34" charset="0"/>
              </a:rPr>
              <a:t>order by </a:t>
            </a:r>
            <a:r>
              <a:rPr lang="en-IN" sz="1400" dirty="0">
                <a:latin typeface="Aptos" panose="020B0004020202020204" pitchFamily="34" charset="0"/>
              </a:rPr>
              <a:t>division, </a:t>
            </a:r>
            <a:r>
              <a:rPr lang="en-IN" sz="1400" dirty="0" err="1">
                <a:latin typeface="Aptos" panose="020B0004020202020204" pitchFamily="34" charset="0"/>
              </a:rPr>
              <a:t>rank_order</a:t>
            </a:r>
            <a:r>
              <a:rPr lang="en-IN" sz="1400" dirty="0">
                <a:latin typeface="Aptos" panose="020B0004020202020204" pitchFamily="34" charset="0"/>
              </a:rPr>
              <a:t> </a:t>
            </a:r>
            <a:r>
              <a:rPr lang="en-IN" sz="1400" dirty="0" err="1">
                <a:solidFill>
                  <a:schemeClr val="accent3"/>
                </a:solidFill>
                <a:latin typeface="Aptos" panose="020B0004020202020204" pitchFamily="34" charset="0"/>
              </a:rPr>
              <a:t>asc</a:t>
            </a:r>
            <a:endParaRPr lang="en-IN" sz="1400" dirty="0">
              <a:solidFill>
                <a:schemeClr val="accent3"/>
              </a:solidFill>
              <a:latin typeface="Aptos" panose="020B0004020202020204" pitchFamily="34" charset="0"/>
            </a:endParaRPr>
          </a:p>
          <a:p>
            <a:r>
              <a:rPr lang="en-IN" sz="1400" dirty="0">
                <a:latin typeface="Aptos" panose="020B0004020202020204" pitchFamily="34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31896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23501-CCAE-45D1-44DA-F3C2C7E9B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285"/>
            <a:ext cx="10515600" cy="4807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b="1" i="0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Google Sans"/>
              </a:rPr>
              <a:t>Division: </a:t>
            </a:r>
          </a:p>
          <a:p>
            <a:endParaRPr lang="en-GB" sz="3200" b="1" dirty="0">
              <a:latin typeface="Google Sans"/>
            </a:endParaRPr>
          </a:p>
          <a:p>
            <a:pPr marL="0" indent="0">
              <a:buNone/>
            </a:pPr>
            <a:r>
              <a:rPr lang="en-GB" sz="3200" b="1" i="0" dirty="0">
                <a:solidFill>
                  <a:srgbClr val="FFC000"/>
                </a:solidFill>
                <a:effectLst/>
                <a:latin typeface="Google Sans"/>
              </a:rPr>
              <a:t>1.N&amp;S: Network and Storage</a:t>
            </a:r>
          </a:p>
          <a:p>
            <a:pPr marL="0" indent="0">
              <a:buNone/>
            </a:pPr>
            <a:r>
              <a:rPr lang="en-GB" sz="2800" dirty="0">
                <a:latin typeface="Google Sans"/>
              </a:rPr>
              <a:t>    </a:t>
            </a:r>
            <a:r>
              <a:rPr lang="en-GB" sz="2800" dirty="0" err="1">
                <a:latin typeface="Google Sans"/>
              </a:rPr>
              <a:t>e.g</a:t>
            </a:r>
            <a:r>
              <a:rPr lang="en-GB" sz="2800" dirty="0">
                <a:latin typeface="Google Sans"/>
              </a:rPr>
              <a:t>: </a:t>
            </a:r>
            <a:r>
              <a:rPr lang="en-IN" sz="2800" i="0" dirty="0">
                <a:effectLst/>
                <a:latin typeface="Google Sans"/>
              </a:rPr>
              <a:t>Wi-Fi routers/extenders, External Hard Drives</a:t>
            </a:r>
          </a:p>
          <a:p>
            <a:pPr marL="0" indent="0">
              <a:buNone/>
            </a:pPr>
            <a:r>
              <a:rPr lang="en-GB" sz="3200" b="1" i="0" dirty="0">
                <a:solidFill>
                  <a:srgbClr val="FFC000"/>
                </a:solidFill>
                <a:effectLst/>
                <a:latin typeface="Google Sans"/>
              </a:rPr>
              <a:t>2.P&amp;A: Peripherals and Accessories </a:t>
            </a:r>
          </a:p>
          <a:p>
            <a:pPr marL="0" indent="0">
              <a:buNone/>
            </a:pPr>
            <a:r>
              <a:rPr lang="en-GB" sz="2800" dirty="0">
                <a:latin typeface="Google Sans"/>
              </a:rPr>
              <a:t>    </a:t>
            </a:r>
            <a:r>
              <a:rPr lang="en-GB" sz="2800" dirty="0" err="1">
                <a:latin typeface="Google Sans"/>
              </a:rPr>
              <a:t>e.g</a:t>
            </a:r>
            <a:r>
              <a:rPr lang="en-GB" sz="2800" dirty="0">
                <a:latin typeface="Google Sans"/>
              </a:rPr>
              <a:t>: </a:t>
            </a:r>
            <a:r>
              <a:rPr lang="en-IN" sz="2800" i="0" dirty="0">
                <a:effectLst/>
                <a:latin typeface="Google Sans"/>
              </a:rPr>
              <a:t>Mouse and Keyboard,</a:t>
            </a:r>
            <a:r>
              <a:rPr lang="en-IN" sz="2800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en-IN" sz="2800" i="0" dirty="0">
                <a:effectLst/>
                <a:latin typeface="Google Sans"/>
              </a:rPr>
              <a:t>Monitors</a:t>
            </a:r>
          </a:p>
          <a:p>
            <a:pPr marL="0" indent="0">
              <a:buNone/>
            </a:pPr>
            <a:r>
              <a:rPr lang="en-IN" sz="2800" b="1" i="0" dirty="0">
                <a:solidFill>
                  <a:srgbClr val="FFC000"/>
                </a:solidFill>
                <a:effectLst/>
                <a:latin typeface="Google Sans"/>
              </a:rPr>
              <a:t>3.PC: Personal Computer </a:t>
            </a:r>
          </a:p>
          <a:p>
            <a:pPr marL="0" indent="0">
              <a:buNone/>
            </a:pPr>
            <a:r>
              <a:rPr lang="en-IN" sz="2800" dirty="0">
                <a:latin typeface="Google Sans"/>
              </a:rPr>
              <a:t>    </a:t>
            </a:r>
            <a:r>
              <a:rPr lang="en-IN" sz="2800" dirty="0" err="1">
                <a:latin typeface="Google Sans"/>
              </a:rPr>
              <a:t>e.g</a:t>
            </a:r>
            <a:r>
              <a:rPr lang="en-IN" sz="2800" b="1" dirty="0">
                <a:latin typeface="Google Sans"/>
              </a:rPr>
              <a:t>: </a:t>
            </a:r>
            <a:r>
              <a:rPr lang="en-IN" sz="2800" i="0" dirty="0">
                <a:effectLst/>
                <a:latin typeface="Google Sans"/>
              </a:rPr>
              <a:t>Desktops, Laptops</a:t>
            </a:r>
            <a:endParaRPr lang="en-IN" sz="28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9589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CF556-E5DD-4EE6-03A3-E0DC21BD8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w: Right 4">
            <a:extLst>
              <a:ext uri="{FF2B5EF4-FFF2-40B4-BE49-F238E27FC236}">
                <a16:creationId xmlns:a16="http://schemas.microsoft.com/office/drawing/2014/main" id="{A466B64F-3C3A-4665-7F38-E9893EC2EC4B}"/>
              </a:ext>
            </a:extLst>
          </p:cNvPr>
          <p:cNvSpPr/>
          <p:nvPr/>
        </p:nvSpPr>
        <p:spPr>
          <a:xfrm>
            <a:off x="4490932" y="2385492"/>
            <a:ext cx="572680" cy="241069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78D184-E7AC-5140-AB4B-7E8132F197A3}"/>
              </a:ext>
            </a:extLst>
          </p:cNvPr>
          <p:cNvSpPr txBox="1"/>
          <p:nvPr/>
        </p:nvSpPr>
        <p:spPr>
          <a:xfrm>
            <a:off x="587678" y="4547313"/>
            <a:ext cx="1550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Insights</a:t>
            </a:r>
            <a:endParaRPr lang="en-IN" sz="24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C9850-6CA1-E5EB-0F4D-E06A8C6A26DF}"/>
              </a:ext>
            </a:extLst>
          </p:cNvPr>
          <p:cNvSpPr txBox="1"/>
          <p:nvPr/>
        </p:nvSpPr>
        <p:spPr>
          <a:xfrm>
            <a:off x="265717" y="5213033"/>
            <a:ext cx="109342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latin typeface="Aptos" panose="020B0004020202020204" pitchFamily="34" charset="0"/>
              </a:rPr>
              <a:t>In the </a:t>
            </a:r>
            <a:r>
              <a:rPr lang="en-GB" sz="1600" b="1" dirty="0">
                <a:solidFill>
                  <a:srgbClr val="FFC000"/>
                </a:solidFill>
                <a:latin typeface="Aptos" panose="020B0004020202020204" pitchFamily="34" charset="0"/>
              </a:rPr>
              <a:t>N&amp;S Division </a:t>
            </a:r>
            <a:r>
              <a:rPr lang="en-GB" sz="1600" dirty="0">
                <a:latin typeface="Aptos" panose="020B0004020202020204" pitchFamily="34" charset="0"/>
              </a:rPr>
              <a:t>the top-selling product was </a:t>
            </a:r>
            <a:r>
              <a:rPr lang="en-GB" sz="1600" dirty="0">
                <a:solidFill>
                  <a:srgbClr val="FFC000"/>
                </a:solidFill>
                <a:latin typeface="Aptos" panose="020B0004020202020204" pitchFamily="34" charset="0"/>
              </a:rPr>
              <a:t>AQ Pen Drive 2 IN 1 (Premium) </a:t>
            </a:r>
            <a:r>
              <a:rPr lang="en-GB" sz="1600" dirty="0">
                <a:latin typeface="Aptos" panose="020B0004020202020204" pitchFamily="34" charset="0"/>
              </a:rPr>
              <a:t>achieving </a:t>
            </a:r>
            <a:r>
              <a:rPr lang="en-GB" sz="1600" b="1" dirty="0">
                <a:solidFill>
                  <a:srgbClr val="FFC000"/>
                </a:solidFill>
                <a:latin typeface="Aptos" panose="020B0004020202020204" pitchFamily="34" charset="0"/>
              </a:rPr>
              <a:t>701.4k units</a:t>
            </a:r>
            <a:r>
              <a:rPr lang="en-GB" sz="1600" dirty="0">
                <a:latin typeface="Aptos" panose="020B0004020202020204" pitchFamily="34" charset="0"/>
              </a:rPr>
              <a:t>, indicating strong customer demand.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latin typeface="Aptos" panose="020B0004020202020204" pitchFamily="34" charset="0"/>
              </a:rPr>
              <a:t>Other top products,</a:t>
            </a:r>
            <a:r>
              <a:rPr lang="en-IN" sz="1600" dirty="0">
                <a:latin typeface="Aptos" panose="020B0004020202020204" pitchFamily="34" charset="0"/>
              </a:rPr>
              <a:t> </a:t>
            </a:r>
            <a:r>
              <a:rPr lang="en-IN" sz="1600" dirty="0">
                <a:solidFill>
                  <a:srgbClr val="FFC000"/>
                </a:solidFill>
                <a:latin typeface="Aptos" panose="020B0004020202020204" pitchFamily="34" charset="0"/>
              </a:rPr>
              <a:t>AQ Gamers Ms (Standard 2)  </a:t>
            </a:r>
            <a:r>
              <a:rPr lang="en-IN" sz="1600" dirty="0">
                <a:latin typeface="Aptos" panose="020B0004020202020204" pitchFamily="34" charset="0"/>
              </a:rPr>
              <a:t>from </a:t>
            </a:r>
            <a:r>
              <a:rPr lang="en-IN" sz="1600" dirty="0">
                <a:solidFill>
                  <a:srgbClr val="FFC000"/>
                </a:solidFill>
                <a:latin typeface="Aptos" panose="020B0004020202020204" pitchFamily="34" charset="0"/>
              </a:rPr>
              <a:t>P&amp;A</a:t>
            </a:r>
            <a:r>
              <a:rPr lang="en-IN" sz="1600" dirty="0">
                <a:latin typeface="Aptos" panose="020B0004020202020204" pitchFamily="34" charset="0"/>
              </a:rPr>
              <a:t> </a:t>
            </a:r>
            <a:r>
              <a:rPr lang="en-GB" sz="1600" dirty="0">
                <a:latin typeface="Aptos" panose="020B0004020202020204" pitchFamily="34" charset="0"/>
              </a:rPr>
              <a:t>and </a:t>
            </a:r>
            <a:r>
              <a:rPr lang="en-IN" sz="1600" dirty="0">
                <a:solidFill>
                  <a:srgbClr val="FFC000"/>
                </a:solidFill>
                <a:latin typeface="Aptos" panose="020B0004020202020204" pitchFamily="34" charset="0"/>
              </a:rPr>
              <a:t>AQ Digit (Standard Blue) </a:t>
            </a:r>
            <a:r>
              <a:rPr lang="en-IN" sz="1600" dirty="0">
                <a:latin typeface="Aptos" panose="020B0004020202020204" pitchFamily="34" charset="0"/>
              </a:rPr>
              <a:t>from </a:t>
            </a:r>
            <a:r>
              <a:rPr lang="en-IN" sz="1600" dirty="0">
                <a:solidFill>
                  <a:srgbClr val="FFC000"/>
                </a:solidFill>
                <a:latin typeface="Aptos" panose="020B0004020202020204" pitchFamily="34" charset="0"/>
              </a:rPr>
              <a:t>PC</a:t>
            </a:r>
            <a:r>
              <a:rPr lang="en-IN" sz="1600" dirty="0">
                <a:latin typeface="Aptos" panose="020B0004020202020204" pitchFamily="34" charset="0"/>
              </a:rPr>
              <a:t>  </a:t>
            </a:r>
            <a:r>
              <a:rPr lang="en-GB" sz="1600" dirty="0">
                <a:latin typeface="Aptos" panose="020B0004020202020204" pitchFamily="34" charset="0"/>
              </a:rPr>
              <a:t>maintained competitive sales, showing a well-balanced product performance.</a:t>
            </a:r>
            <a:endParaRPr lang="en-IN" sz="1600" dirty="0"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57BBC3-D962-B528-ED84-F8F81672E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32" y="1582253"/>
            <a:ext cx="4359945" cy="17877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AB08803-6FCD-E4D5-E7BE-C82F91D6A50F}"/>
              </a:ext>
            </a:extLst>
          </p:cNvPr>
          <p:cNvSpPr txBox="1">
            <a:spLocks/>
          </p:cNvSpPr>
          <p:nvPr/>
        </p:nvSpPr>
        <p:spPr>
          <a:xfrm>
            <a:off x="800296" y="263737"/>
            <a:ext cx="10515600" cy="519778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600" b="0" kern="12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Conversion  of   Output  To  Visual</a:t>
            </a:r>
            <a:endParaRPr lang="en-IN" sz="2800" b="1" dirty="0"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85170B-8D1B-D789-EE6D-9E8318B47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867" y="1266429"/>
            <a:ext cx="7014656" cy="27202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3B946F-B799-79D8-0928-6D742420AF52}"/>
              </a:ext>
            </a:extLst>
          </p:cNvPr>
          <p:cNvSpPr txBox="1"/>
          <p:nvPr/>
        </p:nvSpPr>
        <p:spPr>
          <a:xfrm>
            <a:off x="265717" y="808924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Output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39395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5D654-A751-D3D7-5DDF-C8AA41EB3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9703"/>
            <a:ext cx="10515600" cy="4987260"/>
          </a:xfrm>
        </p:spPr>
        <p:txBody>
          <a:bodyPr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marL="0" indent="0" algn="ctr">
              <a:buNone/>
            </a:pPr>
            <a:r>
              <a:rPr lang="en-IN" sz="4400" dirty="0">
                <a:latin typeface="Britannic Bold" panose="020B0903060703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9836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893</TotalTime>
  <Words>2213</Words>
  <Application>Microsoft Office PowerPoint</Application>
  <PresentationFormat>Widescreen</PresentationFormat>
  <Paragraphs>264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Aptos</vt:lpstr>
      <vt:lpstr>Arial</vt:lpstr>
      <vt:lpstr>Britannic Bold</vt:lpstr>
      <vt:lpstr>Calibri</vt:lpstr>
      <vt:lpstr>Corbel</vt:lpstr>
      <vt:lpstr>Google Sans</vt:lpstr>
      <vt:lpstr>Manrope</vt:lpstr>
      <vt:lpstr>Wingdings</vt:lpstr>
      <vt:lpstr>Depth</vt:lpstr>
      <vt:lpstr>PowerPoint Presentation</vt:lpstr>
      <vt:lpstr>PowerPoint Presentation</vt:lpstr>
      <vt:lpstr>List of Market in APAC Region</vt:lpstr>
      <vt:lpstr>PowerPoint Presentation</vt:lpstr>
      <vt:lpstr>Percentage of Unique Products</vt:lpstr>
      <vt:lpstr>PowerPoint Presentation</vt:lpstr>
      <vt:lpstr>Unique Product Counts for each Segment</vt:lpstr>
      <vt:lpstr>PowerPoint Presentation</vt:lpstr>
      <vt:lpstr>Increase in Unique Products</vt:lpstr>
      <vt:lpstr>PowerPoint Presentation</vt:lpstr>
      <vt:lpstr>List of Manufacturing Costs</vt:lpstr>
      <vt:lpstr>PowerPoint Presentation</vt:lpstr>
      <vt:lpstr>Top 5 Customers with % Discount</vt:lpstr>
      <vt:lpstr>PowerPoint Presentation</vt:lpstr>
      <vt:lpstr>PowerPoint Presentation</vt:lpstr>
      <vt:lpstr>Monthly Gross Sales of Atliq Exclusive</vt:lpstr>
      <vt:lpstr>Conversion  of Output to visual </vt:lpstr>
      <vt:lpstr>Total Sold Quantity of Quarter 2020</vt:lpstr>
      <vt:lpstr>PowerPoint Presentation</vt:lpstr>
      <vt:lpstr>Gross Sales of Channel in FY 2021 &amp; % contribution</vt:lpstr>
      <vt:lpstr>PowerPoint Presentation</vt:lpstr>
      <vt:lpstr>Top 3 Products in each Division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Ankita Gupta</dc:creator>
  <cp:lastModifiedBy>Ankita Gupta</cp:lastModifiedBy>
  <cp:revision>15</cp:revision>
  <dcterms:created xsi:type="dcterms:W3CDTF">2025-11-23T17:36:54Z</dcterms:created>
  <dcterms:modified xsi:type="dcterms:W3CDTF">2025-11-30T07:41:29Z</dcterms:modified>
</cp:coreProperties>
</file>